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11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gv3_1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37160" cy="6858000"/>
          </a:xfrm>
          <a:prstGeom prst="rect">
            <a:avLst/>
          </a:prstGeom>
          <a:solidFill>
            <a:srgbClr val="ABDD3F"/>
          </a:solidFill>
          <a:ln>
            <a:solidFill>
              <a:srgbClr val="ABDD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37160" y="0"/>
            <a:ext cx="54864" cy="6858000"/>
          </a:xfrm>
          <a:prstGeom prst="rect">
            <a:avLst/>
          </a:prstGeom>
          <a:solidFill>
            <a:srgbClr val="FFC425"/>
          </a:solidFill>
          <a:ln>
            <a:solidFill>
              <a:srgbClr val="FFC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8368"/>
            <a:ext cx="3657600" cy="274320"/>
          </a:xfrm>
          <a:prstGeom prst="rect">
            <a:avLst/>
          </a:prstGeom>
          <a:noFill/>
        </p:spPr>
        <p:txBody>
          <a:bodyPr wrap="square" anchor="t">
            <a:spAutoFit/>
          </a:bodyPr>
          <a:lstStyle/>
          <a:p>
            <a:pPr algn="l"/>
            <a:r>
              <a:rPr sz="1200" b="1">
                <a:solidFill>
                  <a:srgbClr val="ABDD3F"/>
                </a:solidFill>
                <a:latin typeface="Aptos Display"/>
              </a:rPr>
              <a:t>HERCode PRESENTS</a:t>
            </a:r>
          </a:p>
        </p:txBody>
      </p:sp>
      <p:sp>
        <p:nvSpPr>
          <p:cNvPr id="7" name="TextBox 6"/>
          <p:cNvSpPr txBox="1"/>
          <p:nvPr/>
        </p:nvSpPr>
        <p:spPr>
          <a:xfrm>
            <a:off x="731520" y="1234440"/>
            <a:ext cx="5486400" cy="685800"/>
          </a:xfrm>
          <a:prstGeom prst="rect">
            <a:avLst/>
          </a:prstGeom>
          <a:noFill/>
        </p:spPr>
        <p:txBody>
          <a:bodyPr wrap="square" anchor="t">
            <a:spAutoFit/>
          </a:bodyPr>
          <a:lstStyle/>
          <a:p>
            <a:pPr algn="l"/>
            <a:r>
              <a:rPr sz="4600" b="1">
                <a:solidFill>
                  <a:srgbClr val="FFFFFF"/>
                </a:solidFill>
                <a:latin typeface="Aptos Display"/>
              </a:rPr>
              <a:t>AgriGuard</a:t>
            </a:r>
          </a:p>
        </p:txBody>
      </p:sp>
      <p:sp>
        <p:nvSpPr>
          <p:cNvPr id="8" name="TextBox 7"/>
          <p:cNvSpPr txBox="1"/>
          <p:nvPr/>
        </p:nvSpPr>
        <p:spPr>
          <a:xfrm>
            <a:off x="749808" y="2148840"/>
            <a:ext cx="5669280" cy="960120"/>
          </a:xfrm>
          <a:prstGeom prst="rect">
            <a:avLst/>
          </a:prstGeom>
          <a:noFill/>
        </p:spPr>
        <p:txBody>
          <a:bodyPr wrap="square" anchor="t">
            <a:spAutoFit/>
          </a:bodyPr>
          <a:lstStyle/>
          <a:p>
            <a:pPr algn="l"/>
            <a:r>
              <a:rPr sz="2500" b="1">
                <a:solidFill>
                  <a:srgbClr val="FFC425"/>
                </a:solidFill>
                <a:latin typeface="Aptos Display"/>
              </a:rPr>
              <a:t>SMART FARMING THAT RESPONDS
TO EACH ZONE IN REAL TIME</a:t>
            </a:r>
          </a:p>
        </p:txBody>
      </p:sp>
      <p:sp>
        <p:nvSpPr>
          <p:cNvPr id="9" name="TextBox 8"/>
          <p:cNvSpPr txBox="1"/>
          <p:nvPr/>
        </p:nvSpPr>
        <p:spPr>
          <a:xfrm>
            <a:off x="768096" y="3520440"/>
            <a:ext cx="5303520" cy="594360"/>
          </a:xfrm>
          <a:prstGeom prst="rect">
            <a:avLst/>
          </a:prstGeom>
          <a:noFill/>
        </p:spPr>
        <p:txBody>
          <a:bodyPr wrap="square" anchor="t">
            <a:spAutoFit/>
          </a:bodyPr>
          <a:lstStyle/>
          <a:p>
            <a:pPr algn="l"/>
            <a:r>
              <a:rPr sz="1500" b="1">
                <a:solidFill>
                  <a:srgbClr val="FFFFFF"/>
                </a:solidFill>
                <a:latin typeface="Aptos Display"/>
              </a:rPr>
              <a:t>Macadamia • Citrus • Zone-specific sensing • Automated protection</a:t>
            </a:r>
          </a:p>
        </p:txBody>
      </p:sp>
      <p:sp>
        <p:nvSpPr>
          <p:cNvPr id="10" name="Rounded Rectangle 9"/>
          <p:cNvSpPr/>
          <p:nvPr/>
        </p:nvSpPr>
        <p:spPr>
          <a:xfrm>
            <a:off x="768096" y="4709160"/>
            <a:ext cx="1051560" cy="347472"/>
          </a:xfrm>
          <a:prstGeom prst="round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4796028"/>
            <a:ext cx="905255" cy="155448"/>
          </a:xfrm>
          <a:prstGeom prst="rect">
            <a:avLst/>
          </a:prstGeom>
          <a:noFill/>
        </p:spPr>
        <p:txBody>
          <a:bodyPr wrap="square" anchor="t">
            <a:spAutoFit/>
          </a:bodyPr>
          <a:lstStyle/>
          <a:p>
            <a:pPr algn="ctr"/>
            <a:r>
              <a:rPr sz="900" b="1">
                <a:solidFill>
                  <a:srgbClr val="FFFFFF"/>
                </a:solidFill>
                <a:latin typeface="Aptos Display"/>
              </a:rPr>
              <a:t>ZONE A</a:t>
            </a:r>
          </a:p>
        </p:txBody>
      </p:sp>
      <p:sp>
        <p:nvSpPr>
          <p:cNvPr id="12" name="Rounded Rectangle 11"/>
          <p:cNvSpPr/>
          <p:nvPr/>
        </p:nvSpPr>
        <p:spPr>
          <a:xfrm>
            <a:off x="1938528" y="4709160"/>
            <a:ext cx="1051560" cy="347472"/>
          </a:xfrm>
          <a:prstGeom prst="roundRect">
            <a:avLst/>
          </a:prstGeom>
          <a:solidFill>
            <a:srgbClr val="1FAED2"/>
          </a:solidFill>
          <a:ln>
            <a:solidFill>
              <a:srgbClr val="1FA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0" y="4796028"/>
            <a:ext cx="905255" cy="155448"/>
          </a:xfrm>
          <a:prstGeom prst="rect">
            <a:avLst/>
          </a:prstGeom>
          <a:noFill/>
        </p:spPr>
        <p:txBody>
          <a:bodyPr wrap="square" anchor="t">
            <a:spAutoFit/>
          </a:bodyPr>
          <a:lstStyle/>
          <a:p>
            <a:pPr algn="ctr"/>
            <a:r>
              <a:rPr sz="900" b="1">
                <a:solidFill>
                  <a:srgbClr val="FFFFFF"/>
                </a:solidFill>
                <a:latin typeface="Aptos Display"/>
              </a:rPr>
              <a:t>ZONE B</a:t>
            </a:r>
          </a:p>
        </p:txBody>
      </p:sp>
      <p:sp>
        <p:nvSpPr>
          <p:cNvPr id="14" name="Rounded Rectangle 13"/>
          <p:cNvSpPr/>
          <p:nvPr/>
        </p:nvSpPr>
        <p:spPr>
          <a:xfrm>
            <a:off x="3108960" y="4709160"/>
            <a:ext cx="1051560" cy="3474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82112" y="4796028"/>
            <a:ext cx="905255" cy="155448"/>
          </a:xfrm>
          <a:prstGeom prst="rect">
            <a:avLst/>
          </a:prstGeom>
          <a:noFill/>
        </p:spPr>
        <p:txBody>
          <a:bodyPr wrap="square" anchor="t">
            <a:spAutoFit/>
          </a:bodyPr>
          <a:lstStyle/>
          <a:p>
            <a:pPr algn="ctr"/>
            <a:r>
              <a:rPr sz="900" b="1">
                <a:solidFill>
                  <a:srgbClr val="FFFFFF"/>
                </a:solidFill>
                <a:latin typeface="Aptos Display"/>
              </a:rPr>
              <a:t>ZONE C</a:t>
            </a:r>
          </a:p>
        </p:txBody>
      </p:sp>
      <p:sp>
        <p:nvSpPr>
          <p:cNvPr id="16" name="TextBox 15"/>
          <p:cNvSpPr txBox="1"/>
          <p:nvPr/>
        </p:nvSpPr>
        <p:spPr>
          <a:xfrm>
            <a:off x="9646920" y="5989320"/>
            <a:ext cx="1828800" cy="320040"/>
          </a:xfrm>
          <a:prstGeom prst="rect">
            <a:avLst/>
          </a:prstGeom>
          <a:noFill/>
        </p:spPr>
        <p:txBody>
          <a:bodyPr wrap="square" anchor="t">
            <a:spAutoFit/>
          </a:bodyPr>
          <a:lstStyle/>
          <a:p>
            <a:pPr algn="r"/>
            <a:r>
              <a:rPr sz="2000" b="1">
                <a:solidFill>
                  <a:srgbClr val="FFFFFF"/>
                </a:solidFill>
                <a:latin typeface="Aptos Display"/>
              </a:rPr>
              <a:t>HerCode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EF"/>
          </a:solidFill>
          <a:ln>
            <a:solidFill>
              <a:srgbClr val="FAF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657600" cy="201168"/>
          </a:xfrm>
          <a:prstGeom prst="rect">
            <a:avLst/>
          </a:prstGeom>
          <a:noFill/>
        </p:spPr>
        <p:txBody>
          <a:bodyPr wrap="square" anchor="t">
            <a:spAutoFit/>
          </a:bodyPr>
          <a:lstStyle/>
          <a:p>
            <a:pPr algn="l"/>
            <a:r>
              <a:rPr sz="1000" b="1">
                <a:solidFill>
                  <a:srgbClr val="188B46"/>
                </a:solidFill>
                <a:latin typeface="Aptos Display"/>
              </a:rPr>
              <a:t>01 • PROBLEM</a:t>
            </a:r>
          </a:p>
        </p:txBody>
      </p:sp>
      <p:sp>
        <p:nvSpPr>
          <p:cNvPr id="4" name="TextBox 3"/>
          <p:cNvSpPr txBox="1"/>
          <p:nvPr/>
        </p:nvSpPr>
        <p:spPr>
          <a:xfrm>
            <a:off x="594360" y="658368"/>
            <a:ext cx="10698480" cy="502920"/>
          </a:xfrm>
          <a:prstGeom prst="rect">
            <a:avLst/>
          </a:prstGeom>
          <a:noFill/>
        </p:spPr>
        <p:txBody>
          <a:bodyPr wrap="square" anchor="t">
            <a:spAutoFit/>
          </a:bodyPr>
          <a:lstStyle/>
          <a:p>
            <a:pPr algn="l"/>
            <a:r>
              <a:rPr sz="2800" b="1">
                <a:solidFill>
                  <a:srgbClr val="082C1F"/>
                </a:solidFill>
                <a:latin typeface="Aptos Display"/>
              </a:rPr>
              <a:t>Problem Statement</a:t>
            </a:r>
          </a:p>
        </p:txBody>
      </p:sp>
      <p:sp>
        <p:nvSpPr>
          <p:cNvPr id="5" name="TextBox 4"/>
          <p:cNvSpPr txBox="1"/>
          <p:nvPr/>
        </p:nvSpPr>
        <p:spPr>
          <a:xfrm>
            <a:off x="11018520" y="384048"/>
            <a:ext cx="502920" cy="228600"/>
          </a:xfrm>
          <a:prstGeom prst="rect">
            <a:avLst/>
          </a:prstGeom>
          <a:noFill/>
        </p:spPr>
        <p:txBody>
          <a:bodyPr wrap="square" anchor="t">
            <a:spAutoFit/>
          </a:bodyPr>
          <a:lstStyle/>
          <a:p>
            <a:pPr algn="r"/>
            <a:r>
              <a:rPr sz="1000" b="1">
                <a:solidFill>
                  <a:srgbClr val="188B46"/>
                </a:solidFill>
                <a:latin typeface="Aptos Display"/>
              </a:rPr>
              <a:t>02</a:t>
            </a:r>
          </a:p>
        </p:txBody>
      </p:sp>
      <p:sp>
        <p:nvSpPr>
          <p:cNvPr id="6" name="Rounded Rectangle 5"/>
          <p:cNvSpPr/>
          <p:nvPr/>
        </p:nvSpPr>
        <p:spPr>
          <a:xfrm>
            <a:off x="594360" y="1417320"/>
            <a:ext cx="7955279" cy="4709160"/>
          </a:xfrm>
          <a:prstGeom prst="roundRect">
            <a:avLst/>
          </a:prstGeom>
          <a:solidFill>
            <a:srgbClr val="FFFFFF"/>
          </a:solidFill>
          <a:ln>
            <a:solidFill>
              <a:srgbClr val="E2E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118872" cy="4709160"/>
          </a:xfrm>
          <a:prstGeom prst="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737360"/>
            <a:ext cx="7269480" cy="4069080"/>
          </a:xfrm>
          <a:prstGeom prst="rect">
            <a:avLst/>
          </a:prstGeom>
          <a:noFill/>
        </p:spPr>
        <p:txBody>
          <a:bodyPr wrap="square" anchor="t">
            <a:spAutoFit/>
          </a:bodyPr>
          <a:lstStyle/>
          <a:p>
            <a:pPr algn="l"/>
            <a:r>
              <a:rPr sz="1700" b="0">
                <a:solidFill>
                  <a:srgbClr val="1B2922"/>
                </a:solidFill>
                <a:latin typeface="Aptos Display"/>
              </a:rPr>
              <a:t>In the Lowveld of Mpumalanga, particularly around the Mbombela, White River agricultural region, citrus &amp; macadamia farmers operate in a subtropical environment where crop production is increasingly exposed to fluctuating temperatures, uneven rainfall, periods of low soil moisture and extreme heat. These conditions can vary significantly across different sections of the same orchard, meaning that one area may have adequate soil moisture while another is already experiencing water or heat distress.
This is particularly important during periods of high crop water demand such as August and September, when low rainfall, high temperatures and low relative humidity can increase irrigation requirements.
Without continuous, zone-specific monitoring of soil moisture and temperature, farmers may not detect localised crop stress early enough or know exactly where intervention is required. This can result in inefficient irrigation, unnecessary water use and increased risk of crop stress and reduced crop productivity.</a:t>
            </a:r>
          </a:p>
        </p:txBody>
      </p:sp>
      <p:sp>
        <p:nvSpPr>
          <p:cNvPr id="9" name="Rounded Rectangle 8"/>
          <p:cNvSpPr/>
          <p:nvPr/>
        </p:nvSpPr>
        <p:spPr>
          <a:xfrm>
            <a:off x="8796528" y="1417320"/>
            <a:ext cx="2770632" cy="4709160"/>
          </a:xfrm>
          <a:prstGeom prst="round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70848" y="1783080"/>
            <a:ext cx="2240280" cy="228600"/>
          </a:xfrm>
          <a:prstGeom prst="rect">
            <a:avLst/>
          </a:prstGeom>
          <a:noFill/>
        </p:spPr>
        <p:txBody>
          <a:bodyPr wrap="square" anchor="t">
            <a:spAutoFit/>
          </a:bodyPr>
          <a:lstStyle/>
          <a:p>
            <a:pPr algn="ctr"/>
            <a:r>
              <a:rPr sz="1200" b="1">
                <a:solidFill>
                  <a:srgbClr val="ABDD3F"/>
                </a:solidFill>
                <a:latin typeface="Aptos Display"/>
              </a:rPr>
              <a:t>THE FARMING REALITY</a:t>
            </a:r>
          </a:p>
        </p:txBody>
      </p:sp>
      <p:sp>
        <p:nvSpPr>
          <p:cNvPr id="11" name="Rounded Rectangle 10"/>
          <p:cNvSpPr/>
          <p:nvPr/>
        </p:nvSpPr>
        <p:spPr>
          <a:xfrm>
            <a:off x="9098280" y="2331720"/>
            <a:ext cx="2148840" cy="585216"/>
          </a:xfrm>
          <a:prstGeom prst="roundRect">
            <a:avLst/>
          </a:prstGeom>
          <a:solidFill>
            <a:srgbClr val="FFC425"/>
          </a:solidFill>
          <a:ln>
            <a:solidFill>
              <a:srgbClr val="FFC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89720" y="2441448"/>
            <a:ext cx="1965960" cy="329184"/>
          </a:xfrm>
          <a:prstGeom prst="rect">
            <a:avLst/>
          </a:prstGeom>
          <a:noFill/>
        </p:spPr>
        <p:txBody>
          <a:bodyPr wrap="square" anchor="ctr">
            <a:spAutoFit/>
          </a:bodyPr>
          <a:lstStyle/>
          <a:p>
            <a:pPr algn="ctr"/>
            <a:r>
              <a:rPr sz="1100" b="1">
                <a:solidFill>
                  <a:srgbClr val="082C1F"/>
                </a:solidFill>
                <a:latin typeface="Aptos Display"/>
              </a:rPr>
              <a:t>Fluctuating
temperatures</a:t>
            </a:r>
          </a:p>
        </p:txBody>
      </p:sp>
      <p:sp>
        <p:nvSpPr>
          <p:cNvPr id="13" name="Rounded Rectangle 12"/>
          <p:cNvSpPr/>
          <p:nvPr/>
        </p:nvSpPr>
        <p:spPr>
          <a:xfrm>
            <a:off x="9098280" y="3118103"/>
            <a:ext cx="2148840" cy="585216"/>
          </a:xfrm>
          <a:prstGeom prst="roundRect">
            <a:avLst/>
          </a:prstGeom>
          <a:solidFill>
            <a:srgbClr val="1FAED2"/>
          </a:solidFill>
          <a:ln>
            <a:solidFill>
              <a:srgbClr val="1FA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89720" y="3227832"/>
            <a:ext cx="1965960" cy="329184"/>
          </a:xfrm>
          <a:prstGeom prst="rect">
            <a:avLst/>
          </a:prstGeom>
          <a:noFill/>
        </p:spPr>
        <p:txBody>
          <a:bodyPr wrap="square" anchor="ctr">
            <a:spAutoFit/>
          </a:bodyPr>
          <a:lstStyle/>
          <a:p>
            <a:pPr algn="ctr"/>
            <a:r>
              <a:rPr sz="1100" b="1">
                <a:solidFill>
                  <a:srgbClr val="082C1F"/>
                </a:solidFill>
                <a:latin typeface="Aptos Display"/>
              </a:rPr>
              <a:t>Uneven
rainfall</a:t>
            </a:r>
          </a:p>
        </p:txBody>
      </p:sp>
      <p:sp>
        <p:nvSpPr>
          <p:cNvPr id="15" name="Rounded Rectangle 14"/>
          <p:cNvSpPr/>
          <p:nvPr/>
        </p:nvSpPr>
        <p:spPr>
          <a:xfrm>
            <a:off x="9098280" y="3904487"/>
            <a:ext cx="2148840" cy="585216"/>
          </a:xfrm>
          <a:prstGeom prst="round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89720" y="4014215"/>
            <a:ext cx="1965960" cy="329184"/>
          </a:xfrm>
          <a:prstGeom prst="rect">
            <a:avLst/>
          </a:prstGeom>
          <a:noFill/>
        </p:spPr>
        <p:txBody>
          <a:bodyPr wrap="square" anchor="ctr">
            <a:spAutoFit/>
          </a:bodyPr>
          <a:lstStyle/>
          <a:p>
            <a:pPr algn="ctr"/>
            <a:r>
              <a:rPr sz="1100" b="1">
                <a:solidFill>
                  <a:srgbClr val="082C1F"/>
                </a:solidFill>
                <a:latin typeface="Aptos Display"/>
              </a:rPr>
              <a:t>Low soil
moisture</a:t>
            </a:r>
          </a:p>
        </p:txBody>
      </p:sp>
      <p:sp>
        <p:nvSpPr>
          <p:cNvPr id="17" name="Rounded Rectangle 16"/>
          <p:cNvSpPr/>
          <p:nvPr/>
        </p:nvSpPr>
        <p:spPr>
          <a:xfrm>
            <a:off x="9098280" y="4690872"/>
            <a:ext cx="2148840" cy="585216"/>
          </a:xfrm>
          <a:prstGeom prst="roundRect">
            <a:avLst/>
          </a:prstGeom>
          <a:solidFill>
            <a:srgbClr val="DC4239"/>
          </a:solidFill>
          <a:ln>
            <a:solidFill>
              <a:srgbClr val="DC4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4800600"/>
            <a:ext cx="1965960" cy="329184"/>
          </a:xfrm>
          <a:prstGeom prst="rect">
            <a:avLst/>
          </a:prstGeom>
          <a:noFill/>
        </p:spPr>
        <p:txBody>
          <a:bodyPr wrap="square" anchor="ctr">
            <a:spAutoFit/>
          </a:bodyPr>
          <a:lstStyle/>
          <a:p>
            <a:pPr algn="ctr"/>
            <a:r>
              <a:rPr sz="1100" b="1">
                <a:solidFill>
                  <a:srgbClr val="FFFFFF"/>
                </a:solidFill>
                <a:latin typeface="Aptos Display"/>
              </a:rPr>
              <a:t>Extreme
heat</a:t>
            </a:r>
          </a:p>
        </p:txBody>
      </p:sp>
      <p:sp>
        <p:nvSpPr>
          <p:cNvPr id="19" name="TextBox 18"/>
          <p:cNvSpPr txBox="1"/>
          <p:nvPr/>
        </p:nvSpPr>
        <p:spPr>
          <a:xfrm>
            <a:off x="9052560" y="5532120"/>
            <a:ext cx="2240280" cy="411480"/>
          </a:xfrm>
          <a:prstGeom prst="rect">
            <a:avLst/>
          </a:prstGeom>
          <a:noFill/>
        </p:spPr>
        <p:txBody>
          <a:bodyPr wrap="square" anchor="t">
            <a:spAutoFit/>
          </a:bodyPr>
          <a:lstStyle/>
          <a:p>
            <a:pPr algn="ctr"/>
            <a:r>
              <a:rPr sz="1100" b="1">
                <a:solidFill>
                  <a:srgbClr val="FFFFFF"/>
                </a:solidFill>
                <a:latin typeface="Aptos Display"/>
              </a:rPr>
              <a:t>Different sections of one orchard can need different responses.</a:t>
            </a:r>
          </a:p>
        </p:txBody>
      </p:sp>
      <p:sp>
        <p:nvSpPr>
          <p:cNvPr id="20" name="TextBox 19"/>
          <p:cNvSpPr txBox="1"/>
          <p:nvPr/>
        </p:nvSpPr>
        <p:spPr>
          <a:xfrm>
            <a:off x="594360" y="6510528"/>
            <a:ext cx="2743200" cy="164592"/>
          </a:xfrm>
          <a:prstGeom prst="rect">
            <a:avLst/>
          </a:prstGeom>
          <a:noFill/>
        </p:spPr>
        <p:txBody>
          <a:bodyPr wrap="square" anchor="t">
            <a:spAutoFit/>
          </a:bodyPr>
          <a:lstStyle/>
          <a:p>
            <a:pPr algn="l"/>
            <a:r>
              <a:rPr sz="800" b="1">
                <a:solidFill>
                  <a:srgbClr val="5A6960"/>
                </a:solidFill>
                <a:latin typeface="Aptos Display"/>
              </a:rPr>
              <a:t>HerCode  •  AgriGuard</a:t>
            </a:r>
          </a:p>
        </p:txBody>
      </p:sp>
      <p:sp>
        <p:nvSpPr>
          <p:cNvPr id="21" name="TextBox 20"/>
          <p:cNvSpPr txBox="1"/>
          <p:nvPr/>
        </p:nvSpPr>
        <p:spPr>
          <a:xfrm>
            <a:off x="7498079" y="6510528"/>
            <a:ext cx="4069080" cy="164592"/>
          </a:xfrm>
          <a:prstGeom prst="rect">
            <a:avLst/>
          </a:prstGeom>
          <a:noFill/>
        </p:spPr>
        <p:txBody>
          <a:bodyPr wrap="square" anchor="t">
            <a:spAutoFit/>
          </a:bodyPr>
          <a:lstStyle/>
          <a:p>
            <a:pPr algn="r"/>
            <a:r>
              <a:rPr sz="800" b="1">
                <a:solidFill>
                  <a:srgbClr val="5A6960"/>
                </a:solidFill>
                <a:latin typeface="Aptos Display"/>
              </a:rPr>
              <a:t>SMART FARM • HEALTHY CROPS • SECURE TOMORROW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657600" cy="201168"/>
          </a:xfrm>
          <a:prstGeom prst="rect">
            <a:avLst/>
          </a:prstGeom>
          <a:noFill/>
        </p:spPr>
        <p:txBody>
          <a:bodyPr wrap="square" anchor="t">
            <a:spAutoFit/>
          </a:bodyPr>
          <a:lstStyle/>
          <a:p>
            <a:pPr algn="l"/>
            <a:r>
              <a:rPr sz="1000" b="1">
                <a:solidFill>
                  <a:srgbClr val="ABDD3F"/>
                </a:solidFill>
                <a:latin typeface="Aptos Display"/>
              </a:rPr>
              <a:t>02 • SOLUTION</a:t>
            </a:r>
          </a:p>
        </p:txBody>
      </p:sp>
      <p:sp>
        <p:nvSpPr>
          <p:cNvPr id="4" name="TextBox 3"/>
          <p:cNvSpPr txBox="1"/>
          <p:nvPr/>
        </p:nvSpPr>
        <p:spPr>
          <a:xfrm>
            <a:off x="594360" y="658368"/>
            <a:ext cx="10698480" cy="502920"/>
          </a:xfrm>
          <a:prstGeom prst="rect">
            <a:avLst/>
          </a:prstGeom>
          <a:noFill/>
        </p:spPr>
        <p:txBody>
          <a:bodyPr wrap="square" anchor="t">
            <a:spAutoFit/>
          </a:bodyPr>
          <a:lstStyle/>
          <a:p>
            <a:pPr algn="l"/>
            <a:r>
              <a:rPr sz="2800" b="1">
                <a:solidFill>
                  <a:srgbClr val="FFFFFF"/>
                </a:solidFill>
                <a:latin typeface="Aptos Display"/>
              </a:rPr>
              <a:t>Solution Statement</a:t>
            </a:r>
          </a:p>
        </p:txBody>
      </p:sp>
      <p:sp>
        <p:nvSpPr>
          <p:cNvPr id="5" name="TextBox 4"/>
          <p:cNvSpPr txBox="1"/>
          <p:nvPr/>
        </p:nvSpPr>
        <p:spPr>
          <a:xfrm>
            <a:off x="11018520" y="384048"/>
            <a:ext cx="502920" cy="228600"/>
          </a:xfrm>
          <a:prstGeom prst="rect">
            <a:avLst/>
          </a:prstGeom>
          <a:noFill/>
        </p:spPr>
        <p:txBody>
          <a:bodyPr wrap="square" anchor="t">
            <a:spAutoFit/>
          </a:bodyPr>
          <a:lstStyle/>
          <a:p>
            <a:pPr algn="r"/>
            <a:r>
              <a:rPr sz="1000" b="1">
                <a:solidFill>
                  <a:srgbClr val="ABDD3F"/>
                </a:solidFill>
                <a:latin typeface="Aptos Display"/>
              </a:rPr>
              <a:t>03</a:t>
            </a:r>
          </a:p>
        </p:txBody>
      </p:sp>
      <p:sp>
        <p:nvSpPr>
          <p:cNvPr id="6" name="Rounded Rectangle 5"/>
          <p:cNvSpPr/>
          <p:nvPr/>
        </p:nvSpPr>
        <p:spPr>
          <a:xfrm>
            <a:off x="594360" y="1371600"/>
            <a:ext cx="10972800" cy="4892040"/>
          </a:xfrm>
          <a:prstGeom prst="roundRect">
            <a:avLst/>
          </a:prstGeom>
          <a:solidFill>
            <a:srgbClr val="114730"/>
          </a:solidFill>
          <a:ln>
            <a:solidFill>
              <a:srgbClr val="1147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673352"/>
            <a:ext cx="5074920"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99632" y="1673352"/>
            <a:ext cx="5074920" cy="4297680"/>
          </a:xfrm>
          <a:prstGeom prst="roundRect">
            <a:avLst/>
          </a:prstGeom>
          <a:solidFill>
            <a:srgbClr val="EAF7EA"/>
          </a:solidFill>
          <a:ln>
            <a:solidFill>
              <a:srgbClr val="EAF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901952"/>
            <a:ext cx="4526280" cy="3749039"/>
          </a:xfrm>
          <a:prstGeom prst="rect">
            <a:avLst/>
          </a:prstGeom>
          <a:noFill/>
        </p:spPr>
        <p:txBody>
          <a:bodyPr wrap="square" anchor="t">
            <a:spAutoFit/>
          </a:bodyPr>
          <a:lstStyle/>
          <a:p>
            <a:pPr algn="l"/>
            <a:r>
              <a:rPr sz="1420" b="0">
                <a:solidFill>
                  <a:srgbClr val="1B2922"/>
                </a:solidFill>
                <a:latin typeface="Aptos Display"/>
              </a:rPr>
              <a:t>Our solution is AgriGuard, a smart farming system that monitors the farm and automatically responds when plants are under stress. Instead of the farmer having to constantly check every part of the farm, AgriGuard monitors temperature, soil moisture, rainfall and water levels and takes actions when needed.
When temperature becomes too high, the system detects the heat and automatically uses a motor to pull a shade cloth over the plants to protect them from excessive heat and direct sunlight. When the soil becomes too dry the system identifies the affected zones, checks the water tank and automatically turns on the pump to water only the area.</a:t>
            </a:r>
          </a:p>
        </p:txBody>
      </p:sp>
      <p:sp>
        <p:nvSpPr>
          <p:cNvPr id="10" name="TextBox 9"/>
          <p:cNvSpPr txBox="1"/>
          <p:nvPr/>
        </p:nvSpPr>
        <p:spPr>
          <a:xfrm>
            <a:off x="6473952" y="1901952"/>
            <a:ext cx="4526280" cy="3749039"/>
          </a:xfrm>
          <a:prstGeom prst="rect">
            <a:avLst/>
          </a:prstGeom>
          <a:noFill/>
        </p:spPr>
        <p:txBody>
          <a:bodyPr wrap="square" anchor="t">
            <a:spAutoFit/>
          </a:bodyPr>
          <a:lstStyle/>
          <a:p>
            <a:pPr algn="l"/>
            <a:r>
              <a:rPr sz="1420" b="0">
                <a:solidFill>
                  <a:srgbClr val="1B2922"/>
                </a:solidFill>
                <a:latin typeface="Aptos Display"/>
              </a:rPr>
              <a:t>When the water tank becomes too low, the system stops irrigation and alerts the farmer to refill it. When rain is detected irrigation automatically stops to prevent water wastage. The system also provides weather updates through a voice feature telling the farmer the outside temperature and weather conditions.
It uses this information together with the farm sensors to update the farm status and tell the farmer whether the farm needs to be checked or not; everything is under control. All the information is displayed on the farmer's dashboard, allowing the farmer to see the condition of each zone, the water level and what the system is doing in real time. The system is also solar powered using solar energy and a battery to keep it running.</a:t>
            </a:r>
          </a:p>
        </p:txBody>
      </p:sp>
      <p:sp>
        <p:nvSpPr>
          <p:cNvPr id="11" name="Rounded Rectangle 10"/>
          <p:cNvSpPr/>
          <p:nvPr/>
        </p:nvSpPr>
        <p:spPr>
          <a:xfrm>
            <a:off x="1143000" y="5559552"/>
            <a:ext cx="960120" cy="3474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6152" y="5646420"/>
            <a:ext cx="813816" cy="155448"/>
          </a:xfrm>
          <a:prstGeom prst="rect">
            <a:avLst/>
          </a:prstGeom>
          <a:noFill/>
        </p:spPr>
        <p:txBody>
          <a:bodyPr wrap="square" anchor="t">
            <a:spAutoFit/>
          </a:bodyPr>
          <a:lstStyle/>
          <a:p>
            <a:pPr algn="ctr"/>
            <a:r>
              <a:rPr sz="900" b="1">
                <a:solidFill>
                  <a:srgbClr val="FFFFFF"/>
                </a:solidFill>
                <a:latin typeface="Aptos Display"/>
              </a:rPr>
              <a:t>SENSE</a:t>
            </a:r>
          </a:p>
        </p:txBody>
      </p:sp>
      <p:sp>
        <p:nvSpPr>
          <p:cNvPr id="13" name="Rounded Rectangle 12"/>
          <p:cNvSpPr/>
          <p:nvPr/>
        </p:nvSpPr>
        <p:spPr>
          <a:xfrm>
            <a:off x="2221992" y="5559552"/>
            <a:ext cx="1051560" cy="347472"/>
          </a:xfrm>
          <a:prstGeom prst="roundRect">
            <a:avLst/>
          </a:prstGeom>
          <a:solidFill>
            <a:srgbClr val="1FAED2"/>
          </a:solidFill>
          <a:ln>
            <a:solidFill>
              <a:srgbClr val="1FA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95144" y="5646420"/>
            <a:ext cx="905255" cy="155448"/>
          </a:xfrm>
          <a:prstGeom prst="rect">
            <a:avLst/>
          </a:prstGeom>
          <a:noFill/>
        </p:spPr>
        <p:txBody>
          <a:bodyPr wrap="square" anchor="t">
            <a:spAutoFit/>
          </a:bodyPr>
          <a:lstStyle/>
          <a:p>
            <a:pPr algn="ctr"/>
            <a:r>
              <a:rPr sz="900" b="1">
                <a:solidFill>
                  <a:srgbClr val="FFFFFF"/>
                </a:solidFill>
                <a:latin typeface="Aptos Display"/>
              </a:rPr>
              <a:t>DECIDE</a:t>
            </a:r>
          </a:p>
        </p:txBody>
      </p:sp>
      <p:sp>
        <p:nvSpPr>
          <p:cNvPr id="15" name="Rounded Rectangle 14"/>
          <p:cNvSpPr/>
          <p:nvPr/>
        </p:nvSpPr>
        <p:spPr>
          <a:xfrm>
            <a:off x="3401568" y="5559552"/>
            <a:ext cx="822960" cy="347472"/>
          </a:xfrm>
          <a:prstGeom prst="round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5646420"/>
            <a:ext cx="676656" cy="155448"/>
          </a:xfrm>
          <a:prstGeom prst="rect">
            <a:avLst/>
          </a:prstGeom>
          <a:noFill/>
        </p:spPr>
        <p:txBody>
          <a:bodyPr wrap="square" anchor="t">
            <a:spAutoFit/>
          </a:bodyPr>
          <a:lstStyle/>
          <a:p>
            <a:pPr algn="ctr"/>
            <a:r>
              <a:rPr sz="900" b="1">
                <a:solidFill>
                  <a:srgbClr val="FFFFFF"/>
                </a:solidFill>
                <a:latin typeface="Aptos Display"/>
              </a:rPr>
              <a:t>ACT</a:t>
            </a:r>
          </a:p>
        </p:txBody>
      </p:sp>
      <p:sp>
        <p:nvSpPr>
          <p:cNvPr id="17" name="Rounded Rectangle 16"/>
          <p:cNvSpPr/>
          <p:nvPr/>
        </p:nvSpPr>
        <p:spPr>
          <a:xfrm>
            <a:off x="6473952" y="5559552"/>
            <a:ext cx="960120" cy="347472"/>
          </a:xfrm>
          <a:prstGeom prst="roundRect">
            <a:avLst/>
          </a:prstGeom>
          <a:solidFill>
            <a:srgbClr val="DC4239"/>
          </a:solidFill>
          <a:ln>
            <a:solidFill>
              <a:srgbClr val="DC4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47104" y="5646420"/>
            <a:ext cx="813816" cy="155448"/>
          </a:xfrm>
          <a:prstGeom prst="rect">
            <a:avLst/>
          </a:prstGeom>
          <a:noFill/>
        </p:spPr>
        <p:txBody>
          <a:bodyPr wrap="square" anchor="t">
            <a:spAutoFit/>
          </a:bodyPr>
          <a:lstStyle/>
          <a:p>
            <a:pPr algn="ctr"/>
            <a:r>
              <a:rPr sz="900" b="1">
                <a:solidFill>
                  <a:srgbClr val="FFFFFF"/>
                </a:solidFill>
                <a:latin typeface="Aptos Display"/>
              </a:rPr>
              <a:t>ALERT</a:t>
            </a:r>
          </a:p>
        </p:txBody>
      </p:sp>
      <p:sp>
        <p:nvSpPr>
          <p:cNvPr id="19" name="Rounded Rectangle 18"/>
          <p:cNvSpPr/>
          <p:nvPr/>
        </p:nvSpPr>
        <p:spPr>
          <a:xfrm>
            <a:off x="7562088" y="5559552"/>
            <a:ext cx="1417320" cy="3474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5646420"/>
            <a:ext cx="1271016" cy="155448"/>
          </a:xfrm>
          <a:prstGeom prst="rect">
            <a:avLst/>
          </a:prstGeom>
          <a:noFill/>
        </p:spPr>
        <p:txBody>
          <a:bodyPr wrap="square" anchor="t">
            <a:spAutoFit/>
          </a:bodyPr>
          <a:lstStyle/>
          <a:p>
            <a:pPr algn="ctr"/>
            <a:r>
              <a:rPr sz="900" b="1">
                <a:solidFill>
                  <a:srgbClr val="FFFFFF"/>
                </a:solidFill>
                <a:latin typeface="Aptos Display"/>
              </a:rPr>
              <a:t>DASHBOARD</a:t>
            </a:r>
          </a:p>
        </p:txBody>
      </p:sp>
      <p:sp>
        <p:nvSpPr>
          <p:cNvPr id="21" name="Rounded Rectangle 20"/>
          <p:cNvSpPr/>
          <p:nvPr/>
        </p:nvSpPr>
        <p:spPr>
          <a:xfrm>
            <a:off x="9107424" y="5559552"/>
            <a:ext cx="960120" cy="347472"/>
          </a:xfrm>
          <a:prstGeom prst="roundRect">
            <a:avLst/>
          </a:prstGeom>
          <a:solidFill>
            <a:srgbClr val="FFC425"/>
          </a:solidFill>
          <a:ln>
            <a:solidFill>
              <a:srgbClr val="FFC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0576" y="5646420"/>
            <a:ext cx="813816" cy="155448"/>
          </a:xfrm>
          <a:prstGeom prst="rect">
            <a:avLst/>
          </a:prstGeom>
          <a:noFill/>
        </p:spPr>
        <p:txBody>
          <a:bodyPr wrap="square" anchor="t">
            <a:spAutoFit/>
          </a:bodyPr>
          <a:lstStyle/>
          <a:p>
            <a:pPr algn="ctr"/>
            <a:r>
              <a:rPr sz="900" b="1">
                <a:solidFill>
                  <a:srgbClr val="082C1F"/>
                </a:solidFill>
                <a:latin typeface="Aptos Display"/>
              </a:rPr>
              <a:t>SOLAR</a:t>
            </a:r>
          </a:p>
        </p:txBody>
      </p:sp>
      <p:sp>
        <p:nvSpPr>
          <p:cNvPr id="23" name="TextBox 22"/>
          <p:cNvSpPr txBox="1"/>
          <p:nvPr/>
        </p:nvSpPr>
        <p:spPr>
          <a:xfrm>
            <a:off x="594360" y="6510528"/>
            <a:ext cx="2743200" cy="164592"/>
          </a:xfrm>
          <a:prstGeom prst="rect">
            <a:avLst/>
          </a:prstGeom>
          <a:noFill/>
        </p:spPr>
        <p:txBody>
          <a:bodyPr wrap="square" anchor="t">
            <a:spAutoFit/>
          </a:bodyPr>
          <a:lstStyle/>
          <a:p>
            <a:pPr algn="l"/>
            <a:r>
              <a:rPr sz="800" b="1">
                <a:solidFill>
                  <a:srgbClr val="BED8C5"/>
                </a:solidFill>
                <a:latin typeface="Aptos Display"/>
              </a:rPr>
              <a:t>HerCode  •  AgriGuard</a:t>
            </a:r>
          </a:p>
        </p:txBody>
      </p:sp>
      <p:sp>
        <p:nvSpPr>
          <p:cNvPr id="24" name="TextBox 23"/>
          <p:cNvSpPr txBox="1"/>
          <p:nvPr/>
        </p:nvSpPr>
        <p:spPr>
          <a:xfrm>
            <a:off x="7498079" y="6510528"/>
            <a:ext cx="4069080" cy="164592"/>
          </a:xfrm>
          <a:prstGeom prst="rect">
            <a:avLst/>
          </a:prstGeom>
          <a:noFill/>
        </p:spPr>
        <p:txBody>
          <a:bodyPr wrap="square" anchor="t">
            <a:spAutoFit/>
          </a:bodyPr>
          <a:lstStyle/>
          <a:p>
            <a:pPr algn="r"/>
            <a:r>
              <a:rPr sz="800" b="1">
                <a:solidFill>
                  <a:srgbClr val="BED8C5"/>
                </a:solidFill>
                <a:latin typeface="Aptos Display"/>
              </a:rPr>
              <a:t>SMART FARM • HEALTHY CROPS • SECURE TOMORROW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4E0"/>
          </a:solidFill>
          <a:ln>
            <a:solidFill>
              <a:srgbClr val="FFF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657600" cy="201168"/>
          </a:xfrm>
          <a:prstGeom prst="rect">
            <a:avLst/>
          </a:prstGeom>
          <a:noFill/>
        </p:spPr>
        <p:txBody>
          <a:bodyPr wrap="square" anchor="t">
            <a:spAutoFit/>
          </a:bodyPr>
          <a:lstStyle/>
          <a:p>
            <a:pPr algn="l"/>
            <a:r>
              <a:rPr sz="1000" b="1">
                <a:solidFill>
                  <a:srgbClr val="188B46"/>
                </a:solidFill>
                <a:latin typeface="Aptos Display"/>
              </a:rPr>
              <a:t>04 • DEMONSTRATION</a:t>
            </a:r>
          </a:p>
        </p:txBody>
      </p:sp>
      <p:sp>
        <p:nvSpPr>
          <p:cNvPr id="4" name="TextBox 3"/>
          <p:cNvSpPr txBox="1"/>
          <p:nvPr/>
        </p:nvSpPr>
        <p:spPr>
          <a:xfrm>
            <a:off x="594360" y="658368"/>
            <a:ext cx="10698480" cy="502920"/>
          </a:xfrm>
          <a:prstGeom prst="rect">
            <a:avLst/>
          </a:prstGeom>
          <a:noFill/>
        </p:spPr>
        <p:txBody>
          <a:bodyPr wrap="square" anchor="t">
            <a:spAutoFit/>
          </a:bodyPr>
          <a:lstStyle/>
          <a:p>
            <a:pPr algn="l"/>
            <a:r>
              <a:rPr sz="2800" b="1">
                <a:solidFill>
                  <a:srgbClr val="082C1F"/>
                </a:solidFill>
                <a:latin typeface="Aptos Display"/>
              </a:rPr>
              <a:t>Zone A — Macadamia: Heat Distress</a:t>
            </a:r>
          </a:p>
        </p:txBody>
      </p:sp>
      <p:sp>
        <p:nvSpPr>
          <p:cNvPr id="5" name="TextBox 4"/>
          <p:cNvSpPr txBox="1"/>
          <p:nvPr/>
        </p:nvSpPr>
        <p:spPr>
          <a:xfrm>
            <a:off x="11018520" y="384048"/>
            <a:ext cx="502920" cy="228600"/>
          </a:xfrm>
          <a:prstGeom prst="rect">
            <a:avLst/>
          </a:prstGeom>
          <a:noFill/>
        </p:spPr>
        <p:txBody>
          <a:bodyPr wrap="square" anchor="t">
            <a:spAutoFit/>
          </a:bodyPr>
          <a:lstStyle/>
          <a:p>
            <a:pPr algn="r"/>
            <a:r>
              <a:rPr sz="1000" b="1">
                <a:solidFill>
                  <a:srgbClr val="188B46"/>
                </a:solidFill>
                <a:latin typeface="Aptos Display"/>
              </a:rPr>
              <a:t>05</a:t>
            </a:r>
          </a:p>
        </p:txBody>
      </p:sp>
      <p:sp>
        <p:nvSpPr>
          <p:cNvPr id="6" name="Rounded Rectangle 5"/>
          <p:cNvSpPr/>
          <p:nvPr/>
        </p:nvSpPr>
        <p:spPr>
          <a:xfrm>
            <a:off x="594360" y="1417320"/>
            <a:ext cx="4709160" cy="4709160"/>
          </a:xfrm>
          <a:prstGeom prst="round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37360"/>
            <a:ext cx="2743200" cy="228600"/>
          </a:xfrm>
          <a:prstGeom prst="rect">
            <a:avLst/>
          </a:prstGeom>
          <a:noFill/>
        </p:spPr>
        <p:txBody>
          <a:bodyPr wrap="square" anchor="t">
            <a:spAutoFit/>
          </a:bodyPr>
          <a:lstStyle/>
          <a:p>
            <a:pPr algn="l"/>
            <a:r>
              <a:rPr sz="1200" b="1">
                <a:solidFill>
                  <a:srgbClr val="ABDD3F"/>
                </a:solidFill>
                <a:latin typeface="Aptos Display"/>
              </a:rPr>
              <a:t>RESEARCH STATEMENT</a:t>
            </a:r>
          </a:p>
        </p:txBody>
      </p:sp>
      <p:sp>
        <p:nvSpPr>
          <p:cNvPr id="8" name="TextBox 7"/>
          <p:cNvSpPr txBox="1"/>
          <p:nvPr/>
        </p:nvSpPr>
        <p:spPr>
          <a:xfrm>
            <a:off x="896112" y="2148840"/>
            <a:ext cx="4114800" cy="2331720"/>
          </a:xfrm>
          <a:prstGeom prst="rect">
            <a:avLst/>
          </a:prstGeom>
          <a:noFill/>
        </p:spPr>
        <p:txBody>
          <a:bodyPr wrap="square" anchor="t">
            <a:spAutoFit/>
          </a:bodyPr>
          <a:lstStyle/>
          <a:p>
            <a:pPr algn="l"/>
            <a:r>
              <a:rPr sz="1700" b="1">
                <a:solidFill>
                  <a:srgbClr val="FFFFFF"/>
                </a:solidFill>
                <a:latin typeface="Aptos Display"/>
              </a:rPr>
              <a:t>Our research on macadamia showed that the ideal temperature is about 16–25°C. At temperatures above 35°C, heat stress can reduce photosynthesis, damage flowers and reduce nut set. Macadamia trees require approximately 500–600 mm of water per year for sustained yield. High water demand is especially important during periods such as August and September.</a:t>
            </a:r>
          </a:p>
        </p:txBody>
      </p:sp>
      <p:sp>
        <p:nvSpPr>
          <p:cNvPr id="9" name="Rounded Rectangle 8"/>
          <p:cNvSpPr/>
          <p:nvPr/>
        </p:nvSpPr>
        <p:spPr>
          <a:xfrm>
            <a:off x="896112" y="4800600"/>
            <a:ext cx="1645920" cy="3474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9264" y="4887468"/>
            <a:ext cx="1499616" cy="155448"/>
          </a:xfrm>
          <a:prstGeom prst="rect">
            <a:avLst/>
          </a:prstGeom>
          <a:noFill/>
        </p:spPr>
        <p:txBody>
          <a:bodyPr wrap="square" anchor="t">
            <a:spAutoFit/>
          </a:bodyPr>
          <a:lstStyle/>
          <a:p>
            <a:pPr algn="ctr"/>
            <a:r>
              <a:rPr sz="900" b="1">
                <a:solidFill>
                  <a:srgbClr val="FFFFFF"/>
                </a:solidFill>
                <a:latin typeface="Aptos Display"/>
              </a:rPr>
              <a:t>IDEAL 16–25°C</a:t>
            </a:r>
          </a:p>
        </p:txBody>
      </p:sp>
      <p:sp>
        <p:nvSpPr>
          <p:cNvPr id="11" name="Rounded Rectangle 10"/>
          <p:cNvSpPr/>
          <p:nvPr/>
        </p:nvSpPr>
        <p:spPr>
          <a:xfrm>
            <a:off x="2697480" y="4800600"/>
            <a:ext cx="1965960" cy="347472"/>
          </a:xfrm>
          <a:prstGeom prst="roundRect">
            <a:avLst/>
          </a:prstGeom>
          <a:solidFill>
            <a:srgbClr val="DC4239"/>
          </a:solidFill>
          <a:ln>
            <a:solidFill>
              <a:srgbClr val="DC4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70632" y="4887468"/>
            <a:ext cx="1819656" cy="155448"/>
          </a:xfrm>
          <a:prstGeom prst="rect">
            <a:avLst/>
          </a:prstGeom>
          <a:noFill/>
        </p:spPr>
        <p:txBody>
          <a:bodyPr wrap="square" anchor="t">
            <a:spAutoFit/>
          </a:bodyPr>
          <a:lstStyle/>
          <a:p>
            <a:pPr algn="ctr"/>
            <a:r>
              <a:rPr sz="900" b="1">
                <a:solidFill>
                  <a:srgbClr val="FFFFFF"/>
                </a:solidFill>
                <a:latin typeface="Aptos Display"/>
              </a:rPr>
              <a:t>HEAT STRESS &gt;35°C</a:t>
            </a:r>
          </a:p>
        </p:txBody>
      </p:sp>
      <p:sp>
        <p:nvSpPr>
          <p:cNvPr id="13" name="TextBox 12"/>
          <p:cNvSpPr txBox="1"/>
          <p:nvPr/>
        </p:nvSpPr>
        <p:spPr>
          <a:xfrm>
            <a:off x="5623560" y="1645920"/>
            <a:ext cx="5394960" cy="274320"/>
          </a:xfrm>
          <a:prstGeom prst="rect">
            <a:avLst/>
          </a:prstGeom>
          <a:noFill/>
        </p:spPr>
        <p:txBody>
          <a:bodyPr wrap="square" anchor="t">
            <a:spAutoFit/>
          </a:bodyPr>
          <a:lstStyle/>
          <a:p>
            <a:pPr algn="l"/>
            <a:r>
              <a:rPr sz="1300" b="1">
                <a:solidFill>
                  <a:srgbClr val="F47F24"/>
                </a:solidFill>
                <a:latin typeface="Aptos Display"/>
              </a:rPr>
              <a:t>DEMONSTRATION</a:t>
            </a:r>
          </a:p>
        </p:txBody>
      </p:sp>
      <p:sp>
        <p:nvSpPr>
          <p:cNvPr id="14" name="TextBox 13"/>
          <p:cNvSpPr txBox="1"/>
          <p:nvPr/>
        </p:nvSpPr>
        <p:spPr>
          <a:xfrm>
            <a:off x="5623560" y="2103120"/>
            <a:ext cx="5303520" cy="960120"/>
          </a:xfrm>
          <a:prstGeom prst="rect">
            <a:avLst/>
          </a:prstGeom>
          <a:noFill/>
        </p:spPr>
        <p:txBody>
          <a:bodyPr wrap="square" anchor="t">
            <a:spAutoFit/>
          </a:bodyPr>
          <a:lstStyle/>
          <a:p>
            <a:pPr algn="l"/>
            <a:r>
              <a:rPr sz="2100" b="1">
                <a:solidFill>
                  <a:srgbClr val="1B2922"/>
                </a:solidFill>
                <a:latin typeface="Aptos Display"/>
              </a:rPr>
              <a:t>Zone A is macadamia. We deliberately demonstrate a temperature above 35°C so the system recognises heat distress.</a:t>
            </a:r>
          </a:p>
        </p:txBody>
      </p:sp>
      <p:sp>
        <p:nvSpPr>
          <p:cNvPr id="15" name="Rounded Rectangle 14"/>
          <p:cNvSpPr/>
          <p:nvPr/>
        </p:nvSpPr>
        <p:spPr>
          <a:xfrm>
            <a:off x="5623560" y="3703320"/>
            <a:ext cx="1143000" cy="1261872"/>
          </a:xfrm>
          <a:prstGeom prst="roundRect">
            <a:avLst/>
          </a:prstGeom>
          <a:solidFill>
            <a:srgbClr val="DC4239"/>
          </a:solidFill>
          <a:ln>
            <a:solidFill>
              <a:srgbClr val="DC4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07608" y="3840480"/>
            <a:ext cx="365760" cy="228600"/>
          </a:xfrm>
          <a:prstGeom prst="rect">
            <a:avLst/>
          </a:prstGeom>
          <a:noFill/>
        </p:spPr>
        <p:txBody>
          <a:bodyPr wrap="square" anchor="t">
            <a:spAutoFit/>
          </a:bodyPr>
          <a:lstStyle/>
          <a:p>
            <a:pPr algn="ctr"/>
            <a:r>
              <a:rPr sz="1400" b="1">
                <a:solidFill>
                  <a:srgbClr val="FFFFFF"/>
                </a:solidFill>
                <a:latin typeface="Aptos Display"/>
              </a:rPr>
              <a:t>1</a:t>
            </a:r>
          </a:p>
        </p:txBody>
      </p:sp>
      <p:sp>
        <p:nvSpPr>
          <p:cNvPr id="17" name="TextBox 16"/>
          <p:cNvSpPr txBox="1"/>
          <p:nvPr/>
        </p:nvSpPr>
        <p:spPr>
          <a:xfrm>
            <a:off x="5696712" y="4251960"/>
            <a:ext cx="996696" cy="438912"/>
          </a:xfrm>
          <a:prstGeom prst="rect">
            <a:avLst/>
          </a:prstGeom>
          <a:noFill/>
        </p:spPr>
        <p:txBody>
          <a:bodyPr wrap="square" anchor="t">
            <a:spAutoFit/>
          </a:bodyPr>
          <a:lstStyle/>
          <a:p>
            <a:pPr algn="ctr"/>
            <a:r>
              <a:rPr sz="1000" b="1">
                <a:solidFill>
                  <a:srgbClr val="FFFFFF"/>
                </a:solidFill>
                <a:latin typeface="Aptos Display"/>
              </a:rPr>
              <a:t>Temperature
&gt;35°C</a:t>
            </a:r>
          </a:p>
        </p:txBody>
      </p:sp>
      <p:sp>
        <p:nvSpPr>
          <p:cNvPr id="18" name="TextBox 17"/>
          <p:cNvSpPr txBox="1"/>
          <p:nvPr/>
        </p:nvSpPr>
        <p:spPr>
          <a:xfrm>
            <a:off x="6784848"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19" name="Rounded Rectangle 18"/>
          <p:cNvSpPr/>
          <p:nvPr/>
        </p:nvSpPr>
        <p:spPr>
          <a:xfrm>
            <a:off x="6976872" y="3703320"/>
            <a:ext cx="1143000" cy="12618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60920" y="3840480"/>
            <a:ext cx="365760" cy="228600"/>
          </a:xfrm>
          <a:prstGeom prst="rect">
            <a:avLst/>
          </a:prstGeom>
          <a:noFill/>
        </p:spPr>
        <p:txBody>
          <a:bodyPr wrap="square" anchor="t">
            <a:spAutoFit/>
          </a:bodyPr>
          <a:lstStyle/>
          <a:p>
            <a:pPr algn="ctr"/>
            <a:r>
              <a:rPr sz="1400" b="1">
                <a:solidFill>
                  <a:srgbClr val="082C1F"/>
                </a:solidFill>
                <a:latin typeface="Aptos Display"/>
              </a:rPr>
              <a:t>2</a:t>
            </a:r>
          </a:p>
        </p:txBody>
      </p:sp>
      <p:sp>
        <p:nvSpPr>
          <p:cNvPr id="21" name="TextBox 20"/>
          <p:cNvSpPr txBox="1"/>
          <p:nvPr/>
        </p:nvSpPr>
        <p:spPr>
          <a:xfrm>
            <a:off x="7050024" y="4251960"/>
            <a:ext cx="996696" cy="438912"/>
          </a:xfrm>
          <a:prstGeom prst="rect">
            <a:avLst/>
          </a:prstGeom>
          <a:noFill/>
        </p:spPr>
        <p:txBody>
          <a:bodyPr wrap="square" anchor="t">
            <a:spAutoFit/>
          </a:bodyPr>
          <a:lstStyle/>
          <a:p>
            <a:pPr algn="ctr"/>
            <a:r>
              <a:rPr sz="1000" b="1">
                <a:solidFill>
                  <a:srgbClr val="082C1F"/>
                </a:solidFill>
                <a:latin typeface="Aptos Display"/>
              </a:rPr>
              <a:t>ESP32 detects
heat stress</a:t>
            </a:r>
          </a:p>
        </p:txBody>
      </p:sp>
      <p:sp>
        <p:nvSpPr>
          <p:cNvPr id="22" name="TextBox 21"/>
          <p:cNvSpPr txBox="1"/>
          <p:nvPr/>
        </p:nvSpPr>
        <p:spPr>
          <a:xfrm>
            <a:off x="8138160"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23" name="Rounded Rectangle 22"/>
          <p:cNvSpPr/>
          <p:nvPr/>
        </p:nvSpPr>
        <p:spPr>
          <a:xfrm>
            <a:off x="8330183" y="3703320"/>
            <a:ext cx="1143000" cy="1261872"/>
          </a:xfrm>
          <a:prstGeom prst="round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14232" y="3840480"/>
            <a:ext cx="365760" cy="228600"/>
          </a:xfrm>
          <a:prstGeom prst="rect">
            <a:avLst/>
          </a:prstGeom>
          <a:noFill/>
        </p:spPr>
        <p:txBody>
          <a:bodyPr wrap="square" anchor="t">
            <a:spAutoFit/>
          </a:bodyPr>
          <a:lstStyle/>
          <a:p>
            <a:pPr algn="ctr"/>
            <a:r>
              <a:rPr sz="1400" b="1">
                <a:solidFill>
                  <a:srgbClr val="082C1F"/>
                </a:solidFill>
                <a:latin typeface="Aptos Display"/>
              </a:rPr>
              <a:t>3</a:t>
            </a:r>
          </a:p>
        </p:txBody>
      </p:sp>
      <p:sp>
        <p:nvSpPr>
          <p:cNvPr id="25" name="TextBox 24"/>
          <p:cNvSpPr txBox="1"/>
          <p:nvPr/>
        </p:nvSpPr>
        <p:spPr>
          <a:xfrm>
            <a:off x="8403336" y="4251960"/>
            <a:ext cx="996696" cy="438912"/>
          </a:xfrm>
          <a:prstGeom prst="rect">
            <a:avLst/>
          </a:prstGeom>
          <a:noFill/>
        </p:spPr>
        <p:txBody>
          <a:bodyPr wrap="square" anchor="t">
            <a:spAutoFit/>
          </a:bodyPr>
          <a:lstStyle/>
          <a:p>
            <a:pPr algn="ctr"/>
            <a:r>
              <a:rPr sz="1000" b="1">
                <a:solidFill>
                  <a:srgbClr val="082C1F"/>
                </a:solidFill>
                <a:latin typeface="Aptos Display"/>
              </a:rPr>
              <a:t>Servo / motor
activates</a:t>
            </a:r>
          </a:p>
        </p:txBody>
      </p:sp>
      <p:sp>
        <p:nvSpPr>
          <p:cNvPr id="26" name="TextBox 25"/>
          <p:cNvSpPr txBox="1"/>
          <p:nvPr/>
        </p:nvSpPr>
        <p:spPr>
          <a:xfrm>
            <a:off x="9491472"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27" name="Rounded Rectangle 26"/>
          <p:cNvSpPr/>
          <p:nvPr/>
        </p:nvSpPr>
        <p:spPr>
          <a:xfrm>
            <a:off x="9683496" y="3703320"/>
            <a:ext cx="1143000" cy="1261872"/>
          </a:xfrm>
          <a:prstGeom prst="roundRect">
            <a:avLst/>
          </a:prstGeom>
          <a:solidFill>
            <a:srgbClr val="FFC425"/>
          </a:solidFill>
          <a:ln>
            <a:solidFill>
              <a:srgbClr val="FFC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67544" y="3840480"/>
            <a:ext cx="365760" cy="228600"/>
          </a:xfrm>
          <a:prstGeom prst="rect">
            <a:avLst/>
          </a:prstGeom>
          <a:noFill/>
        </p:spPr>
        <p:txBody>
          <a:bodyPr wrap="square" anchor="t">
            <a:spAutoFit/>
          </a:bodyPr>
          <a:lstStyle/>
          <a:p>
            <a:pPr algn="ctr"/>
            <a:r>
              <a:rPr sz="1400" b="1">
                <a:solidFill>
                  <a:srgbClr val="082C1F"/>
                </a:solidFill>
                <a:latin typeface="Aptos Display"/>
              </a:rPr>
              <a:t>4</a:t>
            </a:r>
          </a:p>
        </p:txBody>
      </p:sp>
      <p:sp>
        <p:nvSpPr>
          <p:cNvPr id="29" name="TextBox 28"/>
          <p:cNvSpPr txBox="1"/>
          <p:nvPr/>
        </p:nvSpPr>
        <p:spPr>
          <a:xfrm>
            <a:off x="9756648" y="4251960"/>
            <a:ext cx="996696" cy="438912"/>
          </a:xfrm>
          <a:prstGeom prst="rect">
            <a:avLst/>
          </a:prstGeom>
          <a:noFill/>
        </p:spPr>
        <p:txBody>
          <a:bodyPr wrap="square" anchor="t">
            <a:spAutoFit/>
          </a:bodyPr>
          <a:lstStyle/>
          <a:p>
            <a:pPr algn="ctr"/>
            <a:r>
              <a:rPr sz="1000" b="1">
                <a:solidFill>
                  <a:srgbClr val="082C1F"/>
                </a:solidFill>
                <a:latin typeface="Aptos Display"/>
              </a:rPr>
              <a:t>Shade cloth
covers Zone A</a:t>
            </a:r>
          </a:p>
        </p:txBody>
      </p:sp>
      <p:sp>
        <p:nvSpPr>
          <p:cNvPr id="30" name="TextBox 29"/>
          <p:cNvSpPr txBox="1"/>
          <p:nvPr/>
        </p:nvSpPr>
        <p:spPr>
          <a:xfrm>
            <a:off x="5623560" y="5394960"/>
            <a:ext cx="5257800" cy="502920"/>
          </a:xfrm>
          <a:prstGeom prst="rect">
            <a:avLst/>
          </a:prstGeom>
          <a:noFill/>
        </p:spPr>
        <p:txBody>
          <a:bodyPr wrap="square" anchor="t">
            <a:spAutoFit/>
          </a:bodyPr>
          <a:lstStyle/>
          <a:p>
            <a:pPr algn="ctr"/>
            <a:r>
              <a:rPr sz="1400" b="1">
                <a:solidFill>
                  <a:srgbClr val="082C1F"/>
                </a:solidFill>
                <a:latin typeface="Aptos Display"/>
              </a:rPr>
              <a:t>Result: the shade cloth protects the macadamia trees from excessive heat and direct sunlight.</a:t>
            </a:r>
          </a:p>
        </p:txBody>
      </p:sp>
      <p:sp>
        <p:nvSpPr>
          <p:cNvPr id="31" name="TextBox 30"/>
          <p:cNvSpPr txBox="1"/>
          <p:nvPr/>
        </p:nvSpPr>
        <p:spPr>
          <a:xfrm>
            <a:off x="594360" y="6510528"/>
            <a:ext cx="2743200" cy="164592"/>
          </a:xfrm>
          <a:prstGeom prst="rect">
            <a:avLst/>
          </a:prstGeom>
          <a:noFill/>
        </p:spPr>
        <p:txBody>
          <a:bodyPr wrap="square" anchor="t">
            <a:spAutoFit/>
          </a:bodyPr>
          <a:lstStyle/>
          <a:p>
            <a:pPr algn="l"/>
            <a:r>
              <a:rPr sz="800" b="1">
                <a:solidFill>
                  <a:srgbClr val="5A6960"/>
                </a:solidFill>
                <a:latin typeface="Aptos Display"/>
              </a:rPr>
              <a:t>HerCode  •  AgriGuard</a:t>
            </a:r>
          </a:p>
        </p:txBody>
      </p:sp>
      <p:sp>
        <p:nvSpPr>
          <p:cNvPr id="32" name="TextBox 31"/>
          <p:cNvSpPr txBox="1"/>
          <p:nvPr/>
        </p:nvSpPr>
        <p:spPr>
          <a:xfrm>
            <a:off x="7498079" y="6510528"/>
            <a:ext cx="4069080" cy="164592"/>
          </a:xfrm>
          <a:prstGeom prst="rect">
            <a:avLst/>
          </a:prstGeom>
          <a:noFill/>
        </p:spPr>
        <p:txBody>
          <a:bodyPr wrap="square" anchor="t">
            <a:spAutoFit/>
          </a:bodyPr>
          <a:lstStyle/>
          <a:p>
            <a:pPr algn="r"/>
            <a:r>
              <a:rPr sz="800" b="1">
                <a:solidFill>
                  <a:srgbClr val="5A6960"/>
                </a:solidFill>
                <a:latin typeface="Aptos Display"/>
              </a:rPr>
              <a:t>SMART FARM • HEALTHY CROPS • SECURE TOMORROW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6F8FB"/>
          </a:solidFill>
          <a:ln>
            <a:solidFill>
              <a:srgbClr val="E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657600" cy="201168"/>
          </a:xfrm>
          <a:prstGeom prst="rect">
            <a:avLst/>
          </a:prstGeom>
          <a:noFill/>
        </p:spPr>
        <p:txBody>
          <a:bodyPr wrap="square" anchor="t">
            <a:spAutoFit/>
          </a:bodyPr>
          <a:lstStyle/>
          <a:p>
            <a:pPr algn="l"/>
            <a:r>
              <a:rPr sz="1000" b="1">
                <a:solidFill>
                  <a:srgbClr val="188B46"/>
                </a:solidFill>
                <a:latin typeface="Aptos Display"/>
              </a:rPr>
              <a:t>05 • DEMONSTRATION</a:t>
            </a:r>
          </a:p>
        </p:txBody>
      </p:sp>
      <p:sp>
        <p:nvSpPr>
          <p:cNvPr id="4" name="TextBox 3"/>
          <p:cNvSpPr txBox="1"/>
          <p:nvPr/>
        </p:nvSpPr>
        <p:spPr>
          <a:xfrm>
            <a:off x="594360" y="658368"/>
            <a:ext cx="10698480" cy="502920"/>
          </a:xfrm>
          <a:prstGeom prst="rect">
            <a:avLst/>
          </a:prstGeom>
          <a:noFill/>
        </p:spPr>
        <p:txBody>
          <a:bodyPr wrap="square" anchor="t">
            <a:spAutoFit/>
          </a:bodyPr>
          <a:lstStyle/>
          <a:p>
            <a:pPr algn="l"/>
            <a:r>
              <a:rPr sz="2800" b="1">
                <a:solidFill>
                  <a:srgbClr val="082C1F"/>
                </a:solidFill>
                <a:latin typeface="Aptos Display"/>
              </a:rPr>
              <a:t>Zone B — Citrus: Dry Soil</a:t>
            </a:r>
          </a:p>
        </p:txBody>
      </p:sp>
      <p:sp>
        <p:nvSpPr>
          <p:cNvPr id="5" name="TextBox 4"/>
          <p:cNvSpPr txBox="1"/>
          <p:nvPr/>
        </p:nvSpPr>
        <p:spPr>
          <a:xfrm>
            <a:off x="11018520" y="384048"/>
            <a:ext cx="502920" cy="228600"/>
          </a:xfrm>
          <a:prstGeom prst="rect">
            <a:avLst/>
          </a:prstGeom>
          <a:noFill/>
        </p:spPr>
        <p:txBody>
          <a:bodyPr wrap="square" anchor="t">
            <a:spAutoFit/>
          </a:bodyPr>
          <a:lstStyle/>
          <a:p>
            <a:pPr algn="r"/>
            <a:r>
              <a:rPr sz="1000" b="1">
                <a:solidFill>
                  <a:srgbClr val="188B46"/>
                </a:solidFill>
                <a:latin typeface="Aptos Display"/>
              </a:rPr>
              <a:t>06</a:t>
            </a:r>
          </a:p>
        </p:txBody>
      </p:sp>
      <p:sp>
        <p:nvSpPr>
          <p:cNvPr id="6" name="Rounded Rectangle 5"/>
          <p:cNvSpPr/>
          <p:nvPr/>
        </p:nvSpPr>
        <p:spPr>
          <a:xfrm>
            <a:off x="594360" y="1417320"/>
            <a:ext cx="4709160" cy="4709160"/>
          </a:xfrm>
          <a:prstGeom prst="roundRect">
            <a:avLst/>
          </a:prstGeom>
          <a:solidFill>
            <a:srgbClr val="1FAED2"/>
          </a:solidFill>
          <a:ln>
            <a:solidFill>
              <a:srgbClr val="1FA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37360"/>
            <a:ext cx="2743200" cy="228600"/>
          </a:xfrm>
          <a:prstGeom prst="rect">
            <a:avLst/>
          </a:prstGeom>
          <a:noFill/>
        </p:spPr>
        <p:txBody>
          <a:bodyPr wrap="square" anchor="t">
            <a:spAutoFit/>
          </a:bodyPr>
          <a:lstStyle/>
          <a:p>
            <a:pPr algn="l"/>
            <a:r>
              <a:rPr sz="1200" b="1">
                <a:solidFill>
                  <a:srgbClr val="082C1F"/>
                </a:solidFill>
                <a:latin typeface="Aptos Display"/>
              </a:rPr>
              <a:t>RESEARCH STATEMENT</a:t>
            </a:r>
          </a:p>
        </p:txBody>
      </p:sp>
      <p:sp>
        <p:nvSpPr>
          <p:cNvPr id="8" name="TextBox 7"/>
          <p:cNvSpPr txBox="1"/>
          <p:nvPr/>
        </p:nvSpPr>
        <p:spPr>
          <a:xfrm>
            <a:off x="896112" y="2148840"/>
            <a:ext cx="4069080" cy="1874519"/>
          </a:xfrm>
          <a:prstGeom prst="rect">
            <a:avLst/>
          </a:prstGeom>
          <a:noFill/>
        </p:spPr>
        <p:txBody>
          <a:bodyPr wrap="square" anchor="t">
            <a:spAutoFit/>
          </a:bodyPr>
          <a:lstStyle/>
          <a:p>
            <a:pPr algn="l"/>
            <a:r>
              <a:rPr sz="1800" b="1">
                <a:solidFill>
                  <a:srgbClr val="082C1F"/>
                </a:solidFill>
                <a:latin typeface="Aptos Display"/>
              </a:rPr>
              <a:t>Our research on citrus showed that citrus requires frost-free conditions, with an approximate temperature range of 15–30°C, and requires approximately 700–1200 mm of total crop water per year as a planning range.</a:t>
            </a:r>
          </a:p>
        </p:txBody>
      </p:sp>
      <p:sp>
        <p:nvSpPr>
          <p:cNvPr id="9" name="Rounded Rectangle 8"/>
          <p:cNvSpPr/>
          <p:nvPr/>
        </p:nvSpPr>
        <p:spPr>
          <a:xfrm>
            <a:off x="896112" y="4434840"/>
            <a:ext cx="1234440" cy="3474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9264" y="4521707"/>
            <a:ext cx="1088136" cy="155448"/>
          </a:xfrm>
          <a:prstGeom prst="rect">
            <a:avLst/>
          </a:prstGeom>
          <a:noFill/>
        </p:spPr>
        <p:txBody>
          <a:bodyPr wrap="square" anchor="t">
            <a:spAutoFit/>
          </a:bodyPr>
          <a:lstStyle/>
          <a:p>
            <a:pPr algn="ctr"/>
            <a:r>
              <a:rPr sz="900" b="1">
                <a:solidFill>
                  <a:srgbClr val="FFFFFF"/>
                </a:solidFill>
                <a:latin typeface="Aptos Display"/>
              </a:rPr>
              <a:t>15–30°C</a:t>
            </a:r>
          </a:p>
        </p:txBody>
      </p:sp>
      <p:sp>
        <p:nvSpPr>
          <p:cNvPr id="11" name="Rounded Rectangle 10"/>
          <p:cNvSpPr/>
          <p:nvPr/>
        </p:nvSpPr>
        <p:spPr>
          <a:xfrm>
            <a:off x="2286000" y="4434840"/>
            <a:ext cx="2011680" cy="347472"/>
          </a:xfrm>
          <a:prstGeom prst="roundRect">
            <a:avLst/>
          </a:prstGeom>
          <a:solidFill>
            <a:srgbClr val="FFC425"/>
          </a:solidFill>
          <a:ln>
            <a:solidFill>
              <a:srgbClr val="FFC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59152" y="4521707"/>
            <a:ext cx="1865376" cy="155448"/>
          </a:xfrm>
          <a:prstGeom prst="rect">
            <a:avLst/>
          </a:prstGeom>
          <a:noFill/>
        </p:spPr>
        <p:txBody>
          <a:bodyPr wrap="square" anchor="t">
            <a:spAutoFit/>
          </a:bodyPr>
          <a:lstStyle/>
          <a:p>
            <a:pPr algn="ctr"/>
            <a:r>
              <a:rPr sz="900" b="1">
                <a:solidFill>
                  <a:srgbClr val="082C1F"/>
                </a:solidFill>
                <a:latin typeface="Aptos Display"/>
              </a:rPr>
              <a:t>≈700–1200 mm/year</a:t>
            </a:r>
          </a:p>
        </p:txBody>
      </p:sp>
      <p:sp>
        <p:nvSpPr>
          <p:cNvPr id="13" name="TextBox 12"/>
          <p:cNvSpPr txBox="1"/>
          <p:nvPr/>
        </p:nvSpPr>
        <p:spPr>
          <a:xfrm>
            <a:off x="896112" y="5074920"/>
            <a:ext cx="3931920" cy="457200"/>
          </a:xfrm>
          <a:prstGeom prst="rect">
            <a:avLst/>
          </a:prstGeom>
          <a:noFill/>
        </p:spPr>
        <p:txBody>
          <a:bodyPr wrap="square" anchor="t">
            <a:spAutoFit/>
          </a:bodyPr>
          <a:lstStyle/>
          <a:p>
            <a:pPr algn="l"/>
            <a:r>
              <a:rPr sz="1500" b="1">
                <a:solidFill>
                  <a:srgbClr val="FFFFFF"/>
                </a:solidFill>
                <a:latin typeface="Aptos Display"/>
              </a:rPr>
              <a:t>For the demonstration, the key trigger is dry soil.</a:t>
            </a:r>
          </a:p>
        </p:txBody>
      </p:sp>
      <p:sp>
        <p:nvSpPr>
          <p:cNvPr id="14" name="TextBox 13"/>
          <p:cNvSpPr txBox="1"/>
          <p:nvPr/>
        </p:nvSpPr>
        <p:spPr>
          <a:xfrm>
            <a:off x="5623560" y="1645920"/>
            <a:ext cx="5394960" cy="274320"/>
          </a:xfrm>
          <a:prstGeom prst="rect">
            <a:avLst/>
          </a:prstGeom>
          <a:noFill/>
        </p:spPr>
        <p:txBody>
          <a:bodyPr wrap="square" anchor="t">
            <a:spAutoFit/>
          </a:bodyPr>
          <a:lstStyle/>
          <a:p>
            <a:pPr algn="l"/>
            <a:r>
              <a:rPr sz="1300" b="1">
                <a:solidFill>
                  <a:srgbClr val="1FAED2"/>
                </a:solidFill>
                <a:latin typeface="Aptos Display"/>
              </a:rPr>
              <a:t>DEMONSTRATION</a:t>
            </a:r>
          </a:p>
        </p:txBody>
      </p:sp>
      <p:sp>
        <p:nvSpPr>
          <p:cNvPr id="15" name="TextBox 14"/>
          <p:cNvSpPr txBox="1"/>
          <p:nvPr/>
        </p:nvSpPr>
        <p:spPr>
          <a:xfrm>
            <a:off x="5623560" y="2103120"/>
            <a:ext cx="5303520" cy="1051560"/>
          </a:xfrm>
          <a:prstGeom prst="rect">
            <a:avLst/>
          </a:prstGeom>
          <a:noFill/>
        </p:spPr>
        <p:txBody>
          <a:bodyPr wrap="square" anchor="t">
            <a:spAutoFit/>
          </a:bodyPr>
          <a:lstStyle/>
          <a:p>
            <a:pPr algn="l"/>
            <a:r>
              <a:rPr sz="2100" b="1">
                <a:solidFill>
                  <a:srgbClr val="1B2922"/>
                </a:solidFill>
                <a:latin typeface="Aptos Display"/>
              </a:rPr>
              <a:t>Zone B is citrus. We demonstrate low soil moisture. When the moisture reading falls below the set threshold, AgriGuard irrigates Zone B only.</a:t>
            </a:r>
          </a:p>
        </p:txBody>
      </p:sp>
      <p:sp>
        <p:nvSpPr>
          <p:cNvPr id="16" name="Rounded Rectangle 15"/>
          <p:cNvSpPr/>
          <p:nvPr/>
        </p:nvSpPr>
        <p:spPr>
          <a:xfrm>
            <a:off x="5623560" y="3703320"/>
            <a:ext cx="1143000" cy="1261872"/>
          </a:xfrm>
          <a:prstGeom prst="roundRect">
            <a:avLst/>
          </a:prstGeom>
          <a:solidFill>
            <a:srgbClr val="1FAED2"/>
          </a:solidFill>
          <a:ln>
            <a:solidFill>
              <a:srgbClr val="1FA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07608" y="3840480"/>
            <a:ext cx="365760" cy="228600"/>
          </a:xfrm>
          <a:prstGeom prst="rect">
            <a:avLst/>
          </a:prstGeom>
          <a:noFill/>
        </p:spPr>
        <p:txBody>
          <a:bodyPr wrap="square" anchor="t">
            <a:spAutoFit/>
          </a:bodyPr>
          <a:lstStyle/>
          <a:p>
            <a:pPr algn="ctr"/>
            <a:r>
              <a:rPr sz="1400" b="1">
                <a:solidFill>
                  <a:srgbClr val="082C1F"/>
                </a:solidFill>
                <a:latin typeface="Aptos Display"/>
              </a:rPr>
              <a:t>1</a:t>
            </a:r>
          </a:p>
        </p:txBody>
      </p:sp>
      <p:sp>
        <p:nvSpPr>
          <p:cNvPr id="18" name="TextBox 17"/>
          <p:cNvSpPr txBox="1"/>
          <p:nvPr/>
        </p:nvSpPr>
        <p:spPr>
          <a:xfrm>
            <a:off x="5696712" y="4251960"/>
            <a:ext cx="996696" cy="438912"/>
          </a:xfrm>
          <a:prstGeom prst="rect">
            <a:avLst/>
          </a:prstGeom>
          <a:noFill/>
        </p:spPr>
        <p:txBody>
          <a:bodyPr wrap="square" anchor="t">
            <a:spAutoFit/>
          </a:bodyPr>
          <a:lstStyle/>
          <a:p>
            <a:pPr algn="ctr"/>
            <a:r>
              <a:rPr sz="1000" b="1">
                <a:solidFill>
                  <a:srgbClr val="082C1F"/>
                </a:solidFill>
                <a:latin typeface="Aptos Display"/>
              </a:rPr>
              <a:t>Dry soil
sensed</a:t>
            </a:r>
          </a:p>
        </p:txBody>
      </p:sp>
      <p:sp>
        <p:nvSpPr>
          <p:cNvPr id="19" name="TextBox 18"/>
          <p:cNvSpPr txBox="1"/>
          <p:nvPr/>
        </p:nvSpPr>
        <p:spPr>
          <a:xfrm>
            <a:off x="6784848"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20" name="Rounded Rectangle 19"/>
          <p:cNvSpPr/>
          <p:nvPr/>
        </p:nvSpPr>
        <p:spPr>
          <a:xfrm>
            <a:off x="6976872" y="3703320"/>
            <a:ext cx="1143000" cy="1261872"/>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3840480"/>
            <a:ext cx="365760" cy="228600"/>
          </a:xfrm>
          <a:prstGeom prst="rect">
            <a:avLst/>
          </a:prstGeom>
          <a:noFill/>
        </p:spPr>
        <p:txBody>
          <a:bodyPr wrap="square" anchor="t">
            <a:spAutoFit/>
          </a:bodyPr>
          <a:lstStyle/>
          <a:p>
            <a:pPr algn="ctr"/>
            <a:r>
              <a:rPr sz="1400" b="1">
                <a:solidFill>
                  <a:srgbClr val="082C1F"/>
                </a:solidFill>
                <a:latin typeface="Aptos Display"/>
              </a:rPr>
              <a:t>2</a:t>
            </a:r>
          </a:p>
        </p:txBody>
      </p:sp>
      <p:sp>
        <p:nvSpPr>
          <p:cNvPr id="22" name="TextBox 21"/>
          <p:cNvSpPr txBox="1"/>
          <p:nvPr/>
        </p:nvSpPr>
        <p:spPr>
          <a:xfrm>
            <a:off x="7050024" y="4251960"/>
            <a:ext cx="996696" cy="438912"/>
          </a:xfrm>
          <a:prstGeom prst="rect">
            <a:avLst/>
          </a:prstGeom>
          <a:noFill/>
        </p:spPr>
        <p:txBody>
          <a:bodyPr wrap="square" anchor="t">
            <a:spAutoFit/>
          </a:bodyPr>
          <a:lstStyle/>
          <a:p>
            <a:pPr algn="ctr"/>
            <a:r>
              <a:rPr sz="1000" b="1">
                <a:solidFill>
                  <a:srgbClr val="082C1F"/>
                </a:solidFill>
                <a:latin typeface="Aptos Display"/>
              </a:rPr>
              <a:t>Zone B
identified</a:t>
            </a:r>
          </a:p>
        </p:txBody>
      </p:sp>
      <p:sp>
        <p:nvSpPr>
          <p:cNvPr id="23" name="TextBox 22"/>
          <p:cNvSpPr txBox="1"/>
          <p:nvPr/>
        </p:nvSpPr>
        <p:spPr>
          <a:xfrm>
            <a:off x="8138160"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24" name="Rounded Rectangle 23"/>
          <p:cNvSpPr/>
          <p:nvPr/>
        </p:nvSpPr>
        <p:spPr>
          <a:xfrm>
            <a:off x="8330183" y="3703320"/>
            <a:ext cx="1143000" cy="1261872"/>
          </a:xfrm>
          <a:prstGeom prst="roundRect">
            <a:avLst/>
          </a:prstGeom>
          <a:solidFill>
            <a:srgbClr val="F47F24"/>
          </a:solidFill>
          <a:ln>
            <a:solidFill>
              <a:srgbClr val="F47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4232" y="3840480"/>
            <a:ext cx="365760" cy="228600"/>
          </a:xfrm>
          <a:prstGeom prst="rect">
            <a:avLst/>
          </a:prstGeom>
          <a:noFill/>
        </p:spPr>
        <p:txBody>
          <a:bodyPr wrap="square" anchor="t">
            <a:spAutoFit/>
          </a:bodyPr>
          <a:lstStyle/>
          <a:p>
            <a:pPr algn="ctr"/>
            <a:r>
              <a:rPr sz="1400" b="1">
                <a:solidFill>
                  <a:srgbClr val="082C1F"/>
                </a:solidFill>
                <a:latin typeface="Aptos Display"/>
              </a:rPr>
              <a:t>3</a:t>
            </a:r>
          </a:p>
        </p:txBody>
      </p:sp>
      <p:sp>
        <p:nvSpPr>
          <p:cNvPr id="26" name="TextBox 25"/>
          <p:cNvSpPr txBox="1"/>
          <p:nvPr/>
        </p:nvSpPr>
        <p:spPr>
          <a:xfrm>
            <a:off x="8403336" y="4251960"/>
            <a:ext cx="996696" cy="438912"/>
          </a:xfrm>
          <a:prstGeom prst="rect">
            <a:avLst/>
          </a:prstGeom>
          <a:noFill/>
        </p:spPr>
        <p:txBody>
          <a:bodyPr wrap="square" anchor="t">
            <a:spAutoFit/>
          </a:bodyPr>
          <a:lstStyle/>
          <a:p>
            <a:pPr algn="ctr"/>
            <a:r>
              <a:rPr sz="1000" b="1">
                <a:solidFill>
                  <a:srgbClr val="082C1F"/>
                </a:solidFill>
                <a:latin typeface="Aptos Display"/>
              </a:rPr>
              <a:t>Pump turns
ON</a:t>
            </a:r>
          </a:p>
        </p:txBody>
      </p:sp>
      <p:sp>
        <p:nvSpPr>
          <p:cNvPr id="27" name="TextBox 26"/>
          <p:cNvSpPr txBox="1"/>
          <p:nvPr/>
        </p:nvSpPr>
        <p:spPr>
          <a:xfrm>
            <a:off x="9491472" y="4114800"/>
            <a:ext cx="182880" cy="274320"/>
          </a:xfrm>
          <a:prstGeom prst="rect">
            <a:avLst/>
          </a:prstGeom>
          <a:noFill/>
        </p:spPr>
        <p:txBody>
          <a:bodyPr wrap="square" anchor="t">
            <a:spAutoFit/>
          </a:bodyPr>
          <a:lstStyle/>
          <a:p>
            <a:pPr algn="ctr"/>
            <a:r>
              <a:rPr sz="1800" b="1">
                <a:solidFill>
                  <a:srgbClr val="188B46"/>
                </a:solidFill>
                <a:latin typeface="Aptos Display"/>
              </a:rPr>
              <a:t>→</a:t>
            </a:r>
          </a:p>
        </p:txBody>
      </p:sp>
      <p:sp>
        <p:nvSpPr>
          <p:cNvPr id="28" name="Rounded Rectangle 27"/>
          <p:cNvSpPr/>
          <p:nvPr/>
        </p:nvSpPr>
        <p:spPr>
          <a:xfrm>
            <a:off x="9683496" y="3703320"/>
            <a:ext cx="1143000" cy="1261872"/>
          </a:xfrm>
          <a:prstGeom prst="roundRect">
            <a:avLst/>
          </a:prstGeom>
          <a:solidFill>
            <a:srgbClr val="ABDD3F"/>
          </a:solidFill>
          <a:ln>
            <a:solidFill>
              <a:srgbClr val="ABDD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67544" y="3840480"/>
            <a:ext cx="365760" cy="228600"/>
          </a:xfrm>
          <a:prstGeom prst="rect">
            <a:avLst/>
          </a:prstGeom>
          <a:noFill/>
        </p:spPr>
        <p:txBody>
          <a:bodyPr wrap="square" anchor="t">
            <a:spAutoFit/>
          </a:bodyPr>
          <a:lstStyle/>
          <a:p>
            <a:pPr algn="ctr"/>
            <a:r>
              <a:rPr sz="1400" b="1">
                <a:solidFill>
                  <a:srgbClr val="082C1F"/>
                </a:solidFill>
                <a:latin typeface="Aptos Display"/>
              </a:rPr>
              <a:t>4</a:t>
            </a:r>
          </a:p>
        </p:txBody>
      </p:sp>
      <p:sp>
        <p:nvSpPr>
          <p:cNvPr id="30" name="TextBox 29"/>
          <p:cNvSpPr txBox="1"/>
          <p:nvPr/>
        </p:nvSpPr>
        <p:spPr>
          <a:xfrm>
            <a:off x="9756648" y="4251960"/>
            <a:ext cx="996696" cy="438912"/>
          </a:xfrm>
          <a:prstGeom prst="rect">
            <a:avLst/>
          </a:prstGeom>
          <a:noFill/>
        </p:spPr>
        <p:txBody>
          <a:bodyPr wrap="square" anchor="t">
            <a:spAutoFit/>
          </a:bodyPr>
          <a:lstStyle/>
          <a:p>
            <a:pPr algn="ctr"/>
            <a:r>
              <a:rPr sz="1000" b="1">
                <a:solidFill>
                  <a:srgbClr val="082C1F"/>
                </a:solidFill>
                <a:latin typeface="Aptos Display"/>
              </a:rPr>
              <a:t>Irrigation
Zone B only</a:t>
            </a:r>
          </a:p>
        </p:txBody>
      </p:sp>
      <p:sp>
        <p:nvSpPr>
          <p:cNvPr id="31" name="TextBox 30"/>
          <p:cNvSpPr txBox="1"/>
          <p:nvPr/>
        </p:nvSpPr>
        <p:spPr>
          <a:xfrm>
            <a:off x="5623560" y="5394960"/>
            <a:ext cx="5257800" cy="502920"/>
          </a:xfrm>
          <a:prstGeom prst="rect">
            <a:avLst/>
          </a:prstGeom>
          <a:noFill/>
        </p:spPr>
        <p:txBody>
          <a:bodyPr wrap="square" anchor="t">
            <a:spAutoFit/>
          </a:bodyPr>
          <a:lstStyle/>
          <a:p>
            <a:pPr algn="ctr"/>
            <a:r>
              <a:rPr sz="1400" b="1">
                <a:solidFill>
                  <a:srgbClr val="082C1F"/>
                </a:solidFill>
                <a:latin typeface="Aptos Display"/>
              </a:rPr>
              <a:t>Result: water is applied only where the soil is dry.</a:t>
            </a:r>
          </a:p>
        </p:txBody>
      </p:sp>
      <p:sp>
        <p:nvSpPr>
          <p:cNvPr id="32" name="TextBox 31"/>
          <p:cNvSpPr txBox="1"/>
          <p:nvPr/>
        </p:nvSpPr>
        <p:spPr>
          <a:xfrm>
            <a:off x="594360" y="6510528"/>
            <a:ext cx="2743200" cy="164592"/>
          </a:xfrm>
          <a:prstGeom prst="rect">
            <a:avLst/>
          </a:prstGeom>
          <a:noFill/>
        </p:spPr>
        <p:txBody>
          <a:bodyPr wrap="square" anchor="t">
            <a:spAutoFit/>
          </a:bodyPr>
          <a:lstStyle/>
          <a:p>
            <a:pPr algn="l"/>
            <a:r>
              <a:rPr sz="800" b="1">
                <a:solidFill>
                  <a:srgbClr val="5A6960"/>
                </a:solidFill>
                <a:latin typeface="Aptos Display"/>
              </a:rPr>
              <a:t>HerCode  •  AgriGuard</a:t>
            </a:r>
          </a:p>
        </p:txBody>
      </p:sp>
      <p:sp>
        <p:nvSpPr>
          <p:cNvPr id="33" name="TextBox 32"/>
          <p:cNvSpPr txBox="1"/>
          <p:nvPr/>
        </p:nvSpPr>
        <p:spPr>
          <a:xfrm>
            <a:off x="7498079" y="6510528"/>
            <a:ext cx="4069080" cy="164592"/>
          </a:xfrm>
          <a:prstGeom prst="rect">
            <a:avLst/>
          </a:prstGeom>
          <a:noFill/>
        </p:spPr>
        <p:txBody>
          <a:bodyPr wrap="square" anchor="t">
            <a:spAutoFit/>
          </a:bodyPr>
          <a:lstStyle/>
          <a:p>
            <a:pPr algn="r"/>
            <a:r>
              <a:rPr sz="800" b="1">
                <a:solidFill>
                  <a:srgbClr val="5A6960"/>
                </a:solidFill>
                <a:latin typeface="Aptos Display"/>
              </a:rPr>
              <a:t>SMART FARM • HEALTHY CROPS • SECURE TOMORROW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AF7EA"/>
          </a:solidFill>
          <a:ln>
            <a:solidFill>
              <a:srgbClr val="EAF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3657600" cy="201168"/>
          </a:xfrm>
          <a:prstGeom prst="rect">
            <a:avLst/>
          </a:prstGeom>
          <a:noFill/>
        </p:spPr>
        <p:txBody>
          <a:bodyPr wrap="square" anchor="t">
            <a:spAutoFit/>
          </a:bodyPr>
          <a:lstStyle/>
          <a:p>
            <a:pPr algn="l"/>
            <a:r>
              <a:rPr sz="1000" b="1">
                <a:solidFill>
                  <a:srgbClr val="188B46"/>
                </a:solidFill>
                <a:latin typeface="Aptos Display"/>
              </a:rPr>
              <a:t>06 • DEMONSTRATION</a:t>
            </a:r>
          </a:p>
        </p:txBody>
      </p:sp>
      <p:sp>
        <p:nvSpPr>
          <p:cNvPr id="4" name="TextBox 3"/>
          <p:cNvSpPr txBox="1"/>
          <p:nvPr/>
        </p:nvSpPr>
        <p:spPr>
          <a:xfrm>
            <a:off x="594360" y="658368"/>
            <a:ext cx="10698480" cy="502920"/>
          </a:xfrm>
          <a:prstGeom prst="rect">
            <a:avLst/>
          </a:prstGeom>
          <a:noFill/>
        </p:spPr>
        <p:txBody>
          <a:bodyPr wrap="square" anchor="t">
            <a:spAutoFit/>
          </a:bodyPr>
          <a:lstStyle/>
          <a:p>
            <a:pPr algn="l"/>
            <a:r>
              <a:rPr sz="2800" b="1">
                <a:solidFill>
                  <a:srgbClr val="082C1F"/>
                </a:solidFill>
                <a:latin typeface="Aptos Display"/>
              </a:rPr>
              <a:t>Zone C — Macadamia: Normal Conditions</a:t>
            </a:r>
          </a:p>
        </p:txBody>
      </p:sp>
      <p:sp>
        <p:nvSpPr>
          <p:cNvPr id="5" name="TextBox 4"/>
          <p:cNvSpPr txBox="1"/>
          <p:nvPr/>
        </p:nvSpPr>
        <p:spPr>
          <a:xfrm>
            <a:off x="11018520" y="384048"/>
            <a:ext cx="502920" cy="228600"/>
          </a:xfrm>
          <a:prstGeom prst="rect">
            <a:avLst/>
          </a:prstGeom>
          <a:noFill/>
        </p:spPr>
        <p:txBody>
          <a:bodyPr wrap="square" anchor="t">
            <a:spAutoFit/>
          </a:bodyPr>
          <a:lstStyle/>
          <a:p>
            <a:pPr algn="r"/>
            <a:r>
              <a:rPr sz="1000" b="1">
                <a:solidFill>
                  <a:srgbClr val="188B46"/>
                </a:solidFill>
                <a:latin typeface="Aptos Display"/>
              </a:rPr>
              <a:t>07</a:t>
            </a:r>
          </a:p>
        </p:txBody>
      </p:sp>
      <p:sp>
        <p:nvSpPr>
          <p:cNvPr id="6" name="Rounded Rectangle 5"/>
          <p:cNvSpPr/>
          <p:nvPr/>
        </p:nvSpPr>
        <p:spPr>
          <a:xfrm>
            <a:off x="594360" y="1417320"/>
            <a:ext cx="4709160" cy="4709160"/>
          </a:xfrm>
          <a:prstGeom prst="roundRect">
            <a:avLst/>
          </a:prstGeom>
          <a:solidFill>
            <a:srgbClr val="188B46"/>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37360"/>
            <a:ext cx="2743200" cy="228600"/>
          </a:xfrm>
          <a:prstGeom prst="rect">
            <a:avLst/>
          </a:prstGeom>
          <a:noFill/>
        </p:spPr>
        <p:txBody>
          <a:bodyPr wrap="square" anchor="t">
            <a:spAutoFit/>
          </a:bodyPr>
          <a:lstStyle/>
          <a:p>
            <a:pPr algn="l"/>
            <a:r>
              <a:rPr sz="1200" b="1">
                <a:solidFill>
                  <a:srgbClr val="ABDD3F"/>
                </a:solidFill>
                <a:latin typeface="Aptos Display"/>
              </a:rPr>
              <a:t>RESEARCH STATEMENT</a:t>
            </a:r>
          </a:p>
        </p:txBody>
      </p:sp>
      <p:sp>
        <p:nvSpPr>
          <p:cNvPr id="8" name="TextBox 7"/>
          <p:cNvSpPr txBox="1"/>
          <p:nvPr/>
        </p:nvSpPr>
        <p:spPr>
          <a:xfrm>
            <a:off x="896112" y="2148840"/>
            <a:ext cx="4069080" cy="1874519"/>
          </a:xfrm>
          <a:prstGeom prst="rect">
            <a:avLst/>
          </a:prstGeom>
          <a:noFill/>
        </p:spPr>
        <p:txBody>
          <a:bodyPr wrap="square" anchor="t">
            <a:spAutoFit/>
          </a:bodyPr>
          <a:lstStyle/>
          <a:p>
            <a:pPr algn="l"/>
            <a:r>
              <a:rPr sz="1800" b="1">
                <a:solidFill>
                  <a:srgbClr val="FFFFFF"/>
                </a:solidFill>
                <a:latin typeface="Aptos Display"/>
              </a:rPr>
              <a:t>For macadamia, our researched ideal temperature is about 16–25°C. Zone C will demonstrate a healthy macadamia zone within this temperature range and with adequate soil moisture.</a:t>
            </a:r>
          </a:p>
        </p:txBody>
      </p:sp>
      <p:sp>
        <p:nvSpPr>
          <p:cNvPr id="9" name="Rounded Rectangle 8"/>
          <p:cNvSpPr/>
          <p:nvPr/>
        </p:nvSpPr>
        <p:spPr>
          <a:xfrm>
            <a:off x="896112" y="4434840"/>
            <a:ext cx="1325880" cy="347472"/>
          </a:xfrm>
          <a:prstGeom prst="roundRect">
            <a:avLst/>
          </a:prstGeom>
          <a:solidFill>
            <a:srgbClr val="ABDD3F"/>
          </a:solidFill>
          <a:ln>
            <a:solidFill>
              <a:srgbClr val="ABDD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9264" y="4521707"/>
            <a:ext cx="1179576" cy="155448"/>
          </a:xfrm>
          <a:prstGeom prst="rect">
            <a:avLst/>
          </a:prstGeom>
          <a:noFill/>
        </p:spPr>
        <p:txBody>
          <a:bodyPr wrap="square" anchor="t">
            <a:spAutoFit/>
          </a:bodyPr>
          <a:lstStyle/>
          <a:p>
            <a:pPr algn="ctr"/>
            <a:r>
              <a:rPr sz="900" b="1">
                <a:solidFill>
                  <a:srgbClr val="082C1F"/>
                </a:solidFill>
                <a:latin typeface="Aptos Display"/>
              </a:rPr>
              <a:t>16–25°C</a:t>
            </a:r>
          </a:p>
        </p:txBody>
      </p:sp>
      <p:sp>
        <p:nvSpPr>
          <p:cNvPr id="11" name="Rounded Rectangle 10"/>
          <p:cNvSpPr/>
          <p:nvPr/>
        </p:nvSpPr>
        <p:spPr>
          <a:xfrm>
            <a:off x="2377440" y="4434840"/>
            <a:ext cx="2057400" cy="347472"/>
          </a:xfrm>
          <a:prstGeom prst="round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50592" y="4521707"/>
            <a:ext cx="1911095" cy="155448"/>
          </a:xfrm>
          <a:prstGeom prst="rect">
            <a:avLst/>
          </a:prstGeom>
          <a:noFill/>
        </p:spPr>
        <p:txBody>
          <a:bodyPr wrap="square" anchor="t">
            <a:spAutoFit/>
          </a:bodyPr>
          <a:lstStyle/>
          <a:p>
            <a:pPr algn="ctr"/>
            <a:r>
              <a:rPr sz="900" b="1">
                <a:solidFill>
                  <a:srgbClr val="FFFFFF"/>
                </a:solidFill>
                <a:latin typeface="Aptos Display"/>
              </a:rPr>
              <a:t>ADEQUATE MOISTURE</a:t>
            </a:r>
          </a:p>
        </p:txBody>
      </p:sp>
      <p:sp>
        <p:nvSpPr>
          <p:cNvPr id="13" name="TextBox 12"/>
          <p:cNvSpPr txBox="1"/>
          <p:nvPr/>
        </p:nvSpPr>
        <p:spPr>
          <a:xfrm>
            <a:off x="896112" y="5074920"/>
            <a:ext cx="3840480" cy="457200"/>
          </a:xfrm>
          <a:prstGeom prst="rect">
            <a:avLst/>
          </a:prstGeom>
          <a:noFill/>
        </p:spPr>
        <p:txBody>
          <a:bodyPr wrap="square" anchor="t">
            <a:spAutoFit/>
          </a:bodyPr>
          <a:lstStyle/>
          <a:p>
            <a:pPr algn="l"/>
            <a:r>
              <a:rPr sz="1600" b="1">
                <a:solidFill>
                  <a:srgbClr val="FFFFFF"/>
                </a:solidFill>
                <a:latin typeface="Aptos Display"/>
              </a:rPr>
              <a:t>No stress condition is triggered.</a:t>
            </a:r>
          </a:p>
        </p:txBody>
      </p:sp>
      <p:sp>
        <p:nvSpPr>
          <p:cNvPr id="14" name="TextBox 13"/>
          <p:cNvSpPr txBox="1"/>
          <p:nvPr/>
        </p:nvSpPr>
        <p:spPr>
          <a:xfrm>
            <a:off x="5623560" y="1645920"/>
            <a:ext cx="5394960" cy="274320"/>
          </a:xfrm>
          <a:prstGeom prst="rect">
            <a:avLst/>
          </a:prstGeom>
          <a:noFill/>
        </p:spPr>
        <p:txBody>
          <a:bodyPr wrap="square" anchor="t">
            <a:spAutoFit/>
          </a:bodyPr>
          <a:lstStyle/>
          <a:p>
            <a:pPr algn="l"/>
            <a:r>
              <a:rPr sz="1300" b="1">
                <a:solidFill>
                  <a:srgbClr val="188B46"/>
                </a:solidFill>
                <a:latin typeface="Aptos Display"/>
              </a:rPr>
              <a:t>DEMONSTRATION</a:t>
            </a:r>
          </a:p>
        </p:txBody>
      </p:sp>
      <p:sp>
        <p:nvSpPr>
          <p:cNvPr id="15" name="TextBox 14"/>
          <p:cNvSpPr txBox="1"/>
          <p:nvPr/>
        </p:nvSpPr>
        <p:spPr>
          <a:xfrm>
            <a:off x="5623560" y="2103120"/>
            <a:ext cx="5303520" cy="1051560"/>
          </a:xfrm>
          <a:prstGeom prst="rect">
            <a:avLst/>
          </a:prstGeom>
          <a:noFill/>
        </p:spPr>
        <p:txBody>
          <a:bodyPr wrap="square" anchor="t">
            <a:spAutoFit/>
          </a:bodyPr>
          <a:lstStyle/>
          <a:p>
            <a:pPr algn="l"/>
            <a:r>
              <a:rPr sz="2100" b="1">
                <a:solidFill>
                  <a:srgbClr val="1B2922"/>
                </a:solidFill>
                <a:latin typeface="Aptos Display"/>
              </a:rPr>
              <a:t>Zone C is macadamia and everything is normal. AgriGuard continues sensing, but it does not turn on irrigation and it does not deploy the shade cloth.</a:t>
            </a:r>
          </a:p>
        </p:txBody>
      </p:sp>
      <p:sp>
        <p:nvSpPr>
          <p:cNvPr id="16" name="Rounded Rectangle 15"/>
          <p:cNvSpPr/>
          <p:nvPr/>
        </p:nvSpPr>
        <p:spPr>
          <a:xfrm>
            <a:off x="5623560" y="3703320"/>
            <a:ext cx="5257800" cy="1417320"/>
          </a:xfrm>
          <a:prstGeom prst="roundRect">
            <a:avLst/>
          </a:prstGeom>
          <a:solidFill>
            <a:srgbClr val="FFFFFF"/>
          </a:solidFill>
          <a:ln>
            <a:solidFill>
              <a:srgbClr val="188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97880" y="4005072"/>
            <a:ext cx="594360" cy="594360"/>
          </a:xfrm>
          <a:prstGeom prst="rect">
            <a:avLst/>
          </a:prstGeom>
          <a:noFill/>
        </p:spPr>
        <p:txBody>
          <a:bodyPr wrap="square" anchor="t">
            <a:spAutoFit/>
          </a:bodyPr>
          <a:lstStyle/>
          <a:p>
            <a:pPr algn="ctr"/>
            <a:r>
              <a:rPr sz="3400" b="1">
                <a:solidFill>
                  <a:srgbClr val="188B46"/>
                </a:solidFill>
                <a:latin typeface="Aptos Display"/>
              </a:rPr>
              <a:t>✓</a:t>
            </a:r>
          </a:p>
        </p:txBody>
      </p:sp>
      <p:sp>
        <p:nvSpPr>
          <p:cNvPr id="18" name="TextBox 17"/>
          <p:cNvSpPr txBox="1"/>
          <p:nvPr/>
        </p:nvSpPr>
        <p:spPr>
          <a:xfrm>
            <a:off x="6629400" y="3977639"/>
            <a:ext cx="3749039" cy="320040"/>
          </a:xfrm>
          <a:prstGeom prst="rect">
            <a:avLst/>
          </a:prstGeom>
          <a:noFill/>
        </p:spPr>
        <p:txBody>
          <a:bodyPr wrap="square" anchor="t">
            <a:spAutoFit/>
          </a:bodyPr>
          <a:lstStyle/>
          <a:p>
            <a:pPr algn="l"/>
            <a:r>
              <a:rPr sz="1900" b="1">
                <a:solidFill>
                  <a:srgbClr val="082C1F"/>
                </a:solidFill>
                <a:latin typeface="Aptos Display"/>
              </a:rPr>
              <a:t>SYSTEM STATUS: NORMAL</a:t>
            </a:r>
          </a:p>
        </p:txBody>
      </p:sp>
      <p:sp>
        <p:nvSpPr>
          <p:cNvPr id="19" name="TextBox 18"/>
          <p:cNvSpPr txBox="1"/>
          <p:nvPr/>
        </p:nvSpPr>
        <p:spPr>
          <a:xfrm>
            <a:off x="6629400" y="4434840"/>
            <a:ext cx="3886200" cy="365760"/>
          </a:xfrm>
          <a:prstGeom prst="rect">
            <a:avLst/>
          </a:prstGeom>
          <a:noFill/>
        </p:spPr>
        <p:txBody>
          <a:bodyPr wrap="square" anchor="t">
            <a:spAutoFit/>
          </a:bodyPr>
          <a:lstStyle/>
          <a:p>
            <a:pPr algn="l"/>
            <a:r>
              <a:rPr sz="1200" b="1">
                <a:solidFill>
                  <a:srgbClr val="5A6960"/>
                </a:solidFill>
                <a:latin typeface="Aptos Display"/>
              </a:rPr>
              <a:t>Monitor only • No actuator required • No unnecessary water use</a:t>
            </a:r>
          </a:p>
        </p:txBody>
      </p:sp>
      <p:sp>
        <p:nvSpPr>
          <p:cNvPr id="20" name="TextBox 19"/>
          <p:cNvSpPr txBox="1"/>
          <p:nvPr/>
        </p:nvSpPr>
        <p:spPr>
          <a:xfrm>
            <a:off x="594360" y="6510528"/>
            <a:ext cx="2743200" cy="164592"/>
          </a:xfrm>
          <a:prstGeom prst="rect">
            <a:avLst/>
          </a:prstGeom>
          <a:noFill/>
        </p:spPr>
        <p:txBody>
          <a:bodyPr wrap="square" anchor="t">
            <a:spAutoFit/>
          </a:bodyPr>
          <a:lstStyle/>
          <a:p>
            <a:pPr algn="l"/>
            <a:r>
              <a:rPr sz="800" b="1">
                <a:solidFill>
                  <a:srgbClr val="5A6960"/>
                </a:solidFill>
                <a:latin typeface="Aptos Display"/>
              </a:rPr>
              <a:t>HerCode  •  AgriGuard</a:t>
            </a:r>
          </a:p>
        </p:txBody>
      </p:sp>
      <p:sp>
        <p:nvSpPr>
          <p:cNvPr id="21" name="TextBox 20"/>
          <p:cNvSpPr txBox="1"/>
          <p:nvPr/>
        </p:nvSpPr>
        <p:spPr>
          <a:xfrm>
            <a:off x="7498079" y="6510528"/>
            <a:ext cx="4069080" cy="164592"/>
          </a:xfrm>
          <a:prstGeom prst="rect">
            <a:avLst/>
          </a:prstGeom>
          <a:noFill/>
        </p:spPr>
        <p:txBody>
          <a:bodyPr wrap="square" anchor="t">
            <a:spAutoFit/>
          </a:bodyPr>
          <a:lstStyle/>
          <a:p>
            <a:pPr algn="r"/>
            <a:r>
              <a:rPr sz="800" b="1">
                <a:solidFill>
                  <a:srgbClr val="5A6960"/>
                </a:solidFill>
                <a:latin typeface="Aptos Display"/>
              </a:rPr>
              <a:t>SMART FARM • HEALTHY CROPS • SECURE TOMORROW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gv3_18.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2C1F"/>
          </a:solidFill>
          <a:ln>
            <a:solidFill>
              <a:srgbClr val="082C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71600"/>
            <a:ext cx="10881360" cy="731520"/>
          </a:xfrm>
          <a:prstGeom prst="rect">
            <a:avLst/>
          </a:prstGeom>
          <a:noFill/>
        </p:spPr>
        <p:txBody>
          <a:bodyPr wrap="square" anchor="t">
            <a:spAutoFit/>
          </a:bodyPr>
          <a:lstStyle/>
          <a:p>
            <a:pPr algn="ctr"/>
            <a:r>
              <a:rPr sz="4600" b="1">
                <a:solidFill>
                  <a:srgbClr val="FFFFFF"/>
                </a:solidFill>
                <a:latin typeface="Aptos Display"/>
              </a:rPr>
              <a:t>AgriGuard</a:t>
            </a:r>
          </a:p>
        </p:txBody>
      </p:sp>
      <p:sp>
        <p:nvSpPr>
          <p:cNvPr id="5" name="TextBox 4"/>
          <p:cNvSpPr txBox="1"/>
          <p:nvPr/>
        </p:nvSpPr>
        <p:spPr>
          <a:xfrm>
            <a:off x="640080" y="2331720"/>
            <a:ext cx="10881360" cy="365760"/>
          </a:xfrm>
          <a:prstGeom prst="rect">
            <a:avLst/>
          </a:prstGeom>
          <a:noFill/>
        </p:spPr>
        <p:txBody>
          <a:bodyPr wrap="square" anchor="t">
            <a:spAutoFit/>
          </a:bodyPr>
          <a:lstStyle/>
          <a:p>
            <a:pPr algn="ctr"/>
            <a:r>
              <a:rPr sz="1800" b="1">
                <a:solidFill>
                  <a:srgbClr val="FFC425"/>
                </a:solidFill>
                <a:latin typeface="Aptos Display"/>
              </a:rPr>
              <a:t>ONE FARM • THREE ZONES • THE RIGHT RESPONSE</a:t>
            </a:r>
          </a:p>
        </p:txBody>
      </p:sp>
      <p:sp>
        <p:nvSpPr>
          <p:cNvPr id="6" name="Rounded Rectangle 5"/>
          <p:cNvSpPr/>
          <p:nvPr/>
        </p:nvSpPr>
        <p:spPr>
          <a:xfrm>
            <a:off x="3749039" y="3246120"/>
            <a:ext cx="4663440" cy="1234440"/>
          </a:xfrm>
          <a:prstGeom prst="roundRect">
            <a:avLst/>
          </a:prstGeom>
          <a:solidFill>
            <a:srgbClr val="114931"/>
          </a:solidFill>
          <a:ln>
            <a:solidFill>
              <a:srgbClr val="1149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77639" y="3493008"/>
            <a:ext cx="4206240" cy="685800"/>
          </a:xfrm>
          <a:prstGeom prst="rect">
            <a:avLst/>
          </a:prstGeom>
          <a:noFill/>
        </p:spPr>
        <p:txBody>
          <a:bodyPr wrap="square" anchor="t">
            <a:spAutoFit/>
          </a:bodyPr>
          <a:lstStyle/>
          <a:p>
            <a:pPr algn="ctr"/>
            <a:r>
              <a:rPr sz="2300" b="1">
                <a:solidFill>
                  <a:srgbClr val="FFFFFF"/>
                </a:solidFill>
                <a:latin typeface="Aptos Display"/>
              </a:rPr>
              <a:t>Sense locally.
Respond intelligently.</a:t>
            </a:r>
          </a:p>
        </p:txBody>
      </p:sp>
      <p:sp>
        <p:nvSpPr>
          <p:cNvPr id="8" name="TextBox 7"/>
          <p:cNvSpPr txBox="1"/>
          <p:nvPr/>
        </p:nvSpPr>
        <p:spPr>
          <a:xfrm>
            <a:off x="640080" y="5257800"/>
            <a:ext cx="10881360" cy="411480"/>
          </a:xfrm>
          <a:prstGeom prst="rect">
            <a:avLst/>
          </a:prstGeom>
          <a:noFill/>
        </p:spPr>
        <p:txBody>
          <a:bodyPr wrap="square" anchor="t">
            <a:spAutoFit/>
          </a:bodyPr>
          <a:lstStyle/>
          <a:p>
            <a:pPr algn="ctr"/>
            <a:r>
              <a:rPr sz="2500" b="1">
                <a:solidFill>
                  <a:srgbClr val="ABDD3F"/>
                </a:solidFill>
                <a:latin typeface="Aptos Display"/>
              </a:rPr>
              <a:t>HerCode</a:t>
            </a:r>
          </a:p>
        </p:txBody>
      </p:sp>
      <p:sp>
        <p:nvSpPr>
          <p:cNvPr id="9" name="TextBox 8"/>
          <p:cNvSpPr txBox="1"/>
          <p:nvPr/>
        </p:nvSpPr>
        <p:spPr>
          <a:xfrm>
            <a:off x="640080" y="5806440"/>
            <a:ext cx="10881360" cy="320040"/>
          </a:xfrm>
          <a:prstGeom prst="rect">
            <a:avLst/>
          </a:prstGeom>
          <a:noFill/>
        </p:spPr>
        <p:txBody>
          <a:bodyPr wrap="square" anchor="t">
            <a:spAutoFit/>
          </a:bodyPr>
          <a:lstStyle/>
          <a:p>
            <a:pPr algn="ctr"/>
            <a:r>
              <a:rPr sz="1500" b="1">
                <a:solidFill>
                  <a:srgbClr val="FFFFFF"/>
                </a:solidFill>
                <a:latin typeface="Aptos Displa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956</Words>
  <Application>Microsoft Office PowerPoint</Application>
  <PresentationFormat>Widescreen</PresentationFormat>
  <Paragraphs>100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LOVENESS NGWENYA</dc:creator>
  <cp:keywords/>
  <dc:description>generated using python-pptx</dc:description>
  <cp:lastModifiedBy>Loveness Ngwenya</cp:lastModifiedBy>
  <cp:revision>2</cp:revision>
  <dcterms:created xsi:type="dcterms:W3CDTF">2013-01-27T09:14:16Z</dcterms:created>
  <dcterms:modified xsi:type="dcterms:W3CDTF">2026-09-17T17:42:09Z</dcterms:modified>
  <cp:category/>
</cp:coreProperties>
</file>